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5143500" cx="9144000"/>
  <p:notesSz cx="6858000" cy="9144000"/>
  <p:embeddedFontLst>
    <p:embeddedFont>
      <p:font typeface="Robot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1" roundtripDataSignature="AMtx7mjkfaZBeFlhP3n2/vMM+D8HHcaX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3BCD029-0BC6-434C-B91B-DC90D2DB970E}">
  <a:tblStyle styleId="{43BCD029-0BC6-434C-B91B-DC90D2DB970E}"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Italic.fntdata"/><Relationship Id="rId20" Type="http://schemas.openxmlformats.org/officeDocument/2006/relationships/slide" Target="slides/slide14.xml"/><Relationship Id="rId41"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Roboto-regular.fnt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Roboto-italic.fntdata"/><Relationship Id="rId16" Type="http://schemas.openxmlformats.org/officeDocument/2006/relationships/slide" Target="slides/slide10.xml"/><Relationship Id="rId38" Type="http://schemas.openxmlformats.org/officeDocument/2006/relationships/font" Target="fonts/Roboto-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4" name="Google Shape;334;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0" name="Google Shape;35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3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3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3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3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3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3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3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4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4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4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0.png"/><Relationship Id="rId9"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png"/><Relationship Id="rId7" Type="http://schemas.openxmlformats.org/officeDocument/2006/relationships/image" Target="../media/image8.jpg"/><Relationship Id="rId8" Type="http://schemas.openxmlformats.org/officeDocument/2006/relationships/image" Target="../media/image1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2.jpg"/><Relationship Id="rId5" Type="http://schemas.openxmlformats.org/officeDocument/2006/relationships/hyperlink" Target="https://esahubble.org/images/heic0411d/"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5.png"/><Relationship Id="rId5" Type="http://schemas.openxmlformats.org/officeDocument/2006/relationships/image" Target="../media/image27.png"/><Relationship Id="rId6" Type="http://schemas.openxmlformats.org/officeDocument/2006/relationships/image" Target="../media/image20.png"/><Relationship Id="rId7" Type="http://schemas.openxmlformats.org/officeDocument/2006/relationships/image" Target="../media/image3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23.png"/><Relationship Id="rId5" Type="http://schemas.openxmlformats.org/officeDocument/2006/relationships/image" Target="../media/image30.png"/><Relationship Id="rId6" Type="http://schemas.openxmlformats.org/officeDocument/2006/relationships/image" Target="../media/image18.png"/><Relationship Id="rId7"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37.png"/><Relationship Id="rId5"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22.png"/><Relationship Id="rId9" Type="http://schemas.openxmlformats.org/officeDocument/2006/relationships/image" Target="../media/image28.png"/><Relationship Id="rId5" Type="http://schemas.openxmlformats.org/officeDocument/2006/relationships/image" Target="../media/image25.png"/><Relationship Id="rId6" Type="http://schemas.openxmlformats.org/officeDocument/2006/relationships/image" Target="../media/image16.png"/><Relationship Id="rId7" Type="http://schemas.openxmlformats.org/officeDocument/2006/relationships/image" Target="../media/image29.png"/><Relationship Id="rId8"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26.png"/><Relationship Id="rId5"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31.png"/><Relationship Id="rId5" Type="http://schemas.openxmlformats.org/officeDocument/2006/relationships/image" Target="../media/image3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36.jpg"/><Relationship Id="rId5" Type="http://schemas.openxmlformats.org/officeDocument/2006/relationships/image" Target="../media/image4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34.jpg"/><Relationship Id="rId5" Type="http://schemas.openxmlformats.org/officeDocument/2006/relationships/image" Target="../media/image43.png"/><Relationship Id="rId6" Type="http://schemas.openxmlformats.org/officeDocument/2006/relationships/image" Target="../media/image3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38.png"/><Relationship Id="rId5" Type="http://schemas.openxmlformats.org/officeDocument/2006/relationships/image" Target="../media/image4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41.png"/><Relationship Id="rId5" Type="http://schemas.openxmlformats.org/officeDocument/2006/relationships/image" Target="../media/image44.png"/><Relationship Id="rId6" Type="http://schemas.openxmlformats.org/officeDocument/2006/relationships/image" Target="../media/image4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49.png"/><Relationship Id="rId5" Type="http://schemas.openxmlformats.org/officeDocument/2006/relationships/image" Target="../media/image41.png"/><Relationship Id="rId6" Type="http://schemas.openxmlformats.org/officeDocument/2006/relationships/image" Target="../media/image4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44.png"/><Relationship Id="rId5" Type="http://schemas.openxmlformats.org/officeDocument/2006/relationships/image" Target="../media/image6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5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9.png"/><Relationship Id="rId4" Type="http://schemas.openxmlformats.org/officeDocument/2006/relationships/image" Target="../media/image63.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0.png"/><Relationship Id="rId8" Type="http://schemas.openxmlformats.org/officeDocument/2006/relationships/image" Target="../media/image5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9.png"/><Relationship Id="rId4" Type="http://schemas.openxmlformats.org/officeDocument/2006/relationships/image" Target="../media/image6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9.png"/><Relationship Id="rId4" Type="http://schemas.openxmlformats.org/officeDocument/2006/relationships/image" Target="../media/image5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4.png"/><Relationship Id="rId4" Type="http://schemas.openxmlformats.org/officeDocument/2006/relationships/image" Target="../media/image9.png"/><Relationship Id="rId5" Type="http://schemas.openxmlformats.org/officeDocument/2006/relationships/image" Target="../media/image61.png"/><Relationship Id="rId6" Type="http://schemas.openxmlformats.org/officeDocument/2006/relationships/image" Target="../media/image5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9.png"/><Relationship Id="rId4" Type="http://schemas.openxmlformats.org/officeDocument/2006/relationships/image" Target="../media/image5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9.png"/><Relationship Id="rId4" Type="http://schemas.openxmlformats.org/officeDocument/2006/relationships/image" Target="../media/image62.jpg"/><Relationship Id="rId5" Type="http://schemas.openxmlformats.org/officeDocument/2006/relationships/image" Target="../media/image65.jpg"/><Relationship Id="rId6" Type="http://schemas.openxmlformats.org/officeDocument/2006/relationships/image" Target="../media/image6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9.png"/><Relationship Id="rId4" Type="http://schemas.openxmlformats.org/officeDocument/2006/relationships/image" Target="../media/image6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9.png"/><Relationship Id="rId4" Type="http://schemas.openxmlformats.org/officeDocument/2006/relationships/hyperlink" Target="https://www.tng-project.org/abou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p:nvPr/>
        </p:nvSpPr>
        <p:spPr>
          <a:xfrm>
            <a:off x="-228600" y="-47900"/>
            <a:ext cx="9601200" cy="5239283"/>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55" name="Google Shape;55;p1"/>
          <p:cNvSpPr txBox="1"/>
          <p:nvPr>
            <p:ph type="ctrTitle"/>
          </p:nvPr>
        </p:nvSpPr>
        <p:spPr>
          <a:xfrm>
            <a:off x="96600" y="536575"/>
            <a:ext cx="8950800" cy="22134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s-419" sz="3500">
                <a:solidFill>
                  <a:schemeClr val="lt1"/>
                </a:solidFill>
              </a:rPr>
              <a:t>What happens with the alpha-elements in the Magellanic Clouds</a:t>
            </a:r>
            <a:r>
              <a:rPr lang="es-419" sz="3577">
                <a:solidFill>
                  <a:schemeClr val="lt1"/>
                </a:solidFill>
              </a:rPr>
              <a:t>:</a:t>
            </a:r>
            <a:endParaRPr sz="2577">
              <a:solidFill>
                <a:schemeClr val="lt1"/>
              </a:solidFill>
            </a:endParaRPr>
          </a:p>
          <a:p>
            <a:pPr indent="0" lvl="0" marL="0" rtl="0" algn="ctr">
              <a:lnSpc>
                <a:spcPct val="100000"/>
              </a:lnSpc>
              <a:spcBef>
                <a:spcPts val="0"/>
              </a:spcBef>
              <a:spcAft>
                <a:spcPts val="0"/>
              </a:spcAft>
              <a:buSzPts val="5200"/>
              <a:buNone/>
            </a:pPr>
            <a:r>
              <a:rPr lang="es-419" sz="2311">
                <a:solidFill>
                  <a:schemeClr val="lt1"/>
                </a:solidFill>
              </a:rPr>
              <a:t>A study of the LMC and SMC using simulations in TNG50</a:t>
            </a:r>
            <a:endParaRPr sz="2311">
              <a:solidFill>
                <a:schemeClr val="lt1"/>
              </a:solidFill>
            </a:endParaRPr>
          </a:p>
        </p:txBody>
      </p:sp>
      <p:sp>
        <p:nvSpPr>
          <p:cNvPr id="56" name="Google Shape;56;p1"/>
          <p:cNvSpPr txBox="1"/>
          <p:nvPr>
            <p:ph idx="1" type="subTitle"/>
          </p:nvPr>
        </p:nvSpPr>
        <p:spPr>
          <a:xfrm>
            <a:off x="3816900" y="3649850"/>
            <a:ext cx="5230500" cy="1084500"/>
          </a:xfrm>
          <a:prstGeom prst="rect">
            <a:avLst/>
          </a:prstGeom>
          <a:noFill/>
          <a:ln>
            <a:noFill/>
          </a:ln>
        </p:spPr>
        <p:txBody>
          <a:bodyPr anchorCtr="0" anchor="t" bIns="91425" lIns="91425" spcFirstLastPara="1" rIns="91425" wrap="square" tIns="91425">
            <a:normAutofit/>
          </a:bodyPr>
          <a:lstStyle/>
          <a:p>
            <a:pPr indent="0" lvl="0" marL="0" rtl="0" algn="ctr">
              <a:lnSpc>
                <a:spcPct val="80000"/>
              </a:lnSpc>
              <a:spcBef>
                <a:spcPts val="0"/>
              </a:spcBef>
              <a:spcAft>
                <a:spcPts val="0"/>
              </a:spcAft>
              <a:buSzPts val="2800"/>
              <a:buNone/>
            </a:pPr>
            <a:r>
              <a:rPr lang="es-419" sz="1800">
                <a:solidFill>
                  <a:schemeClr val="lt1"/>
                </a:solidFill>
              </a:rPr>
              <a:t>José Fuentes, Elisa Pérez, Lucas Calbullanca,</a:t>
            </a:r>
            <a:endParaRPr sz="1800">
              <a:solidFill>
                <a:schemeClr val="lt1"/>
              </a:solidFill>
            </a:endParaRPr>
          </a:p>
          <a:p>
            <a:pPr indent="0" lvl="0" marL="0" rtl="0" algn="ctr">
              <a:lnSpc>
                <a:spcPct val="80000"/>
              </a:lnSpc>
              <a:spcBef>
                <a:spcPts val="0"/>
              </a:spcBef>
              <a:spcAft>
                <a:spcPts val="0"/>
              </a:spcAft>
              <a:buSzPts val="2800"/>
              <a:buNone/>
            </a:pPr>
            <a:r>
              <a:rPr lang="es-419" sz="1800">
                <a:solidFill>
                  <a:schemeClr val="lt1"/>
                </a:solidFill>
              </a:rPr>
              <a:t>Diego Ramírez, Tatiana Castillo, </a:t>
            </a:r>
            <a:endParaRPr sz="1800">
              <a:solidFill>
                <a:schemeClr val="lt1"/>
              </a:solidFill>
            </a:endParaRPr>
          </a:p>
          <a:p>
            <a:pPr indent="0" lvl="0" marL="0" rtl="0" algn="ctr">
              <a:lnSpc>
                <a:spcPct val="80000"/>
              </a:lnSpc>
              <a:spcBef>
                <a:spcPts val="0"/>
              </a:spcBef>
              <a:spcAft>
                <a:spcPts val="0"/>
              </a:spcAft>
              <a:buSzPts val="2800"/>
              <a:buNone/>
            </a:pPr>
            <a:r>
              <a:rPr lang="es-419" sz="1800">
                <a:solidFill>
                  <a:schemeClr val="lt1"/>
                </a:solidFill>
              </a:rPr>
              <a:t>Adonis Bustamante, Matias Almonacid</a:t>
            </a:r>
            <a:endParaRPr sz="1800">
              <a:solidFill>
                <a:schemeClr val="lt1"/>
              </a:solidFill>
            </a:endParaRPr>
          </a:p>
        </p:txBody>
      </p:sp>
      <p:pic>
        <p:nvPicPr>
          <p:cNvPr id="57" name="Google Shape;57;p1"/>
          <p:cNvPicPr preferRelativeResize="0"/>
          <p:nvPr/>
        </p:nvPicPr>
        <p:blipFill rotWithShape="1">
          <a:blip r:embed="rId4">
            <a:alphaModFix/>
          </a:blip>
          <a:srcRect b="0" l="0" r="0" t="0"/>
          <a:stretch/>
        </p:blipFill>
        <p:spPr>
          <a:xfrm>
            <a:off x="373425" y="3563300"/>
            <a:ext cx="2626574" cy="1084375"/>
          </a:xfrm>
          <a:prstGeom prst="rect">
            <a:avLst/>
          </a:prstGeom>
          <a:noFill/>
          <a:ln>
            <a:noFill/>
          </a:ln>
        </p:spPr>
      </p:pic>
      <p:sp>
        <p:nvSpPr>
          <p:cNvPr id="58" name="Google Shape;58;p1"/>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2"/>
          <p:cNvSpPr/>
          <p:nvPr/>
        </p:nvSpPr>
        <p:spPr>
          <a:xfrm>
            <a:off x="-228600" y="-32661"/>
            <a:ext cx="9601200" cy="5239283"/>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64" name="Google Shape;64;p2"/>
          <p:cNvSpPr txBox="1"/>
          <p:nvPr>
            <p:ph type="title"/>
          </p:nvPr>
        </p:nvSpPr>
        <p:spPr>
          <a:xfrm>
            <a:off x="311700" y="455250"/>
            <a:ext cx="8672100" cy="1047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lang="es-419" sz="3420">
                <a:solidFill>
                  <a:schemeClr val="lt1"/>
                </a:solidFill>
              </a:rPr>
              <a:t>Introduction</a:t>
            </a:r>
            <a:r>
              <a:rPr lang="es-419" sz="3520">
                <a:solidFill>
                  <a:schemeClr val="lt1"/>
                </a:solidFill>
              </a:rPr>
              <a:t>: The </a:t>
            </a:r>
            <a:r>
              <a:rPr lang="es-419" sz="3500">
                <a:solidFill>
                  <a:schemeClr val="lt1"/>
                </a:solidFill>
              </a:rPr>
              <a:t>α</a:t>
            </a:r>
            <a:r>
              <a:rPr lang="es-419" sz="3220">
                <a:solidFill>
                  <a:schemeClr val="lt1"/>
                </a:solidFill>
              </a:rPr>
              <a:t>-elements abundance plot</a:t>
            </a:r>
            <a:endParaRPr sz="3220"/>
          </a:p>
        </p:txBody>
      </p:sp>
      <p:sp>
        <p:nvSpPr>
          <p:cNvPr id="65" name="Google Shape;65;p2"/>
          <p:cNvSpPr txBox="1"/>
          <p:nvPr>
            <p:ph idx="1" type="body"/>
          </p:nvPr>
        </p:nvSpPr>
        <p:spPr>
          <a:xfrm>
            <a:off x="625375" y="1959900"/>
            <a:ext cx="3526500" cy="1223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br>
              <a:rPr lang="es-419" sz="1400">
                <a:solidFill>
                  <a:schemeClr val="lt1"/>
                </a:solidFill>
              </a:rPr>
            </a:br>
            <a:endParaRPr sz="1400">
              <a:solidFill>
                <a:schemeClr val="lt1"/>
              </a:solidFill>
            </a:endParaRPr>
          </a:p>
        </p:txBody>
      </p:sp>
      <p:sp>
        <p:nvSpPr>
          <p:cNvPr id="66" name="Google Shape;66;p2"/>
          <p:cNvSpPr txBox="1"/>
          <p:nvPr/>
        </p:nvSpPr>
        <p:spPr>
          <a:xfrm>
            <a:off x="2851525" y="4019775"/>
            <a:ext cx="3272100" cy="84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419" sz="1400" u="none" cap="none" strike="noStrike">
                <a:solidFill>
                  <a:schemeClr val="lt1"/>
                </a:solidFill>
                <a:latin typeface="Arial"/>
                <a:ea typeface="Arial"/>
                <a:cs typeface="Arial"/>
                <a:sym typeface="Arial"/>
              </a:rPr>
              <a:t>Source: ASTF510: Astrofísica Estelar Avanzada, 1er sem/2024, prof. Bruno Dias</a:t>
            </a:r>
            <a:endParaRPr b="0" i="0" sz="1400" u="none" cap="none" strike="noStrike">
              <a:solidFill>
                <a:schemeClr val="lt1"/>
              </a:solidFill>
              <a:latin typeface="Arial"/>
              <a:ea typeface="Arial"/>
              <a:cs typeface="Arial"/>
              <a:sym typeface="Arial"/>
            </a:endParaRPr>
          </a:p>
        </p:txBody>
      </p:sp>
      <p:pic>
        <p:nvPicPr>
          <p:cNvPr id="67" name="Google Shape;67;p2"/>
          <p:cNvPicPr preferRelativeResize="0"/>
          <p:nvPr/>
        </p:nvPicPr>
        <p:blipFill rotWithShape="1">
          <a:blip r:embed="rId4">
            <a:alphaModFix/>
          </a:blip>
          <a:srcRect b="0" l="0" r="0" t="0"/>
          <a:stretch/>
        </p:blipFill>
        <p:spPr>
          <a:xfrm>
            <a:off x="2649000" y="1502850"/>
            <a:ext cx="3846000" cy="2441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3"/>
          <p:cNvSpPr/>
          <p:nvPr/>
        </p:nvSpPr>
        <p:spPr>
          <a:xfrm>
            <a:off x="0" y="0"/>
            <a:ext cx="9372600" cy="5361127"/>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73" name="Google Shape;73;p3"/>
          <p:cNvSpPr txBox="1"/>
          <p:nvPr>
            <p:ph idx="1" type="body"/>
          </p:nvPr>
        </p:nvSpPr>
        <p:spPr>
          <a:xfrm>
            <a:off x="6702300" y="1795400"/>
            <a:ext cx="2138700" cy="461700"/>
          </a:xfrm>
          <a:prstGeom prst="rect">
            <a:avLst/>
          </a:prstGeom>
          <a:noFill/>
          <a:ln>
            <a:noFill/>
          </a:ln>
        </p:spPr>
        <p:txBody>
          <a:bodyPr anchorCtr="0" anchor="t" bIns="91425" lIns="91425" spcFirstLastPara="1" rIns="91425" wrap="square" tIns="91425">
            <a:noAutofit/>
          </a:bodyPr>
          <a:lstStyle/>
          <a:p>
            <a:pPr indent="0" lvl="0" marL="0" rtl="0" algn="l">
              <a:lnSpc>
                <a:spcPct val="75000"/>
              </a:lnSpc>
              <a:spcBef>
                <a:spcPts val="0"/>
              </a:spcBef>
              <a:spcAft>
                <a:spcPts val="0"/>
              </a:spcAft>
              <a:buSzPts val="725"/>
              <a:buNone/>
            </a:pPr>
            <a:r>
              <a:rPr lang="es-419" sz="1200">
                <a:solidFill>
                  <a:schemeClr val="lt1"/>
                </a:solidFill>
              </a:rPr>
              <a:t>Source:</a:t>
            </a:r>
            <a:endParaRPr sz="1200">
              <a:solidFill>
                <a:schemeClr val="lt1"/>
              </a:solidFill>
            </a:endParaRPr>
          </a:p>
          <a:p>
            <a:pPr indent="0" lvl="0" marL="0" rtl="0" algn="l">
              <a:lnSpc>
                <a:spcPct val="75000"/>
              </a:lnSpc>
              <a:spcBef>
                <a:spcPts val="1200"/>
              </a:spcBef>
              <a:spcAft>
                <a:spcPts val="1200"/>
              </a:spcAft>
              <a:buSzPts val="725"/>
              <a:buNone/>
            </a:pPr>
            <a:r>
              <a:rPr lang="es-419" sz="1200">
                <a:solidFill>
                  <a:schemeClr val="lt1"/>
                </a:solidFill>
              </a:rPr>
              <a:t>ESO/Zdeněk Bardon (http://www.bardon.cz/en/)</a:t>
            </a:r>
            <a:endParaRPr sz="1200">
              <a:solidFill>
                <a:schemeClr val="lt1"/>
              </a:solidFill>
            </a:endParaRPr>
          </a:p>
        </p:txBody>
      </p:sp>
      <p:pic>
        <p:nvPicPr>
          <p:cNvPr id="74" name="Google Shape;74;p3"/>
          <p:cNvPicPr preferRelativeResize="0"/>
          <p:nvPr/>
        </p:nvPicPr>
        <p:blipFill rotWithShape="1">
          <a:blip r:embed="rId4">
            <a:alphaModFix/>
          </a:blip>
          <a:srcRect b="0" l="0" r="0" t="0"/>
          <a:stretch/>
        </p:blipFill>
        <p:spPr>
          <a:xfrm>
            <a:off x="6730725" y="337825"/>
            <a:ext cx="1988851" cy="1443475"/>
          </a:xfrm>
          <a:prstGeom prst="rect">
            <a:avLst/>
          </a:prstGeom>
          <a:noFill/>
          <a:ln cap="flat" cmpd="sng" w="19050">
            <a:solidFill>
              <a:schemeClr val="lt1"/>
            </a:solidFill>
            <a:prstDash val="solid"/>
            <a:round/>
            <a:headEnd len="sm" w="sm" type="none"/>
            <a:tailEnd len="sm" w="sm" type="none"/>
          </a:ln>
        </p:spPr>
      </p:pic>
      <p:sp>
        <p:nvSpPr>
          <p:cNvPr id="75" name="Google Shape;75;p3"/>
          <p:cNvSpPr txBox="1"/>
          <p:nvPr/>
        </p:nvSpPr>
        <p:spPr>
          <a:xfrm>
            <a:off x="8013675" y="383825"/>
            <a:ext cx="7059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es-419" sz="1700" u="sng" cap="none" strike="noStrike">
                <a:solidFill>
                  <a:schemeClr val="lt1"/>
                </a:solidFill>
                <a:latin typeface="Arial"/>
                <a:ea typeface="Arial"/>
                <a:cs typeface="Arial"/>
                <a:sym typeface="Arial"/>
              </a:rPr>
              <a:t>LMC</a:t>
            </a:r>
            <a:endParaRPr b="0" i="0" sz="1700" u="sng" cap="none" strike="noStrike">
              <a:solidFill>
                <a:schemeClr val="lt1"/>
              </a:solidFill>
              <a:latin typeface="Arial"/>
              <a:ea typeface="Arial"/>
              <a:cs typeface="Arial"/>
              <a:sym typeface="Arial"/>
            </a:endParaRPr>
          </a:p>
        </p:txBody>
      </p:sp>
      <p:pic>
        <p:nvPicPr>
          <p:cNvPr id="76" name="Google Shape;76;p3"/>
          <p:cNvPicPr preferRelativeResize="0"/>
          <p:nvPr/>
        </p:nvPicPr>
        <p:blipFill rotWithShape="1">
          <a:blip r:embed="rId5">
            <a:alphaModFix/>
          </a:blip>
          <a:srcRect b="0" l="0" r="0" t="0"/>
          <a:stretch/>
        </p:blipFill>
        <p:spPr>
          <a:xfrm>
            <a:off x="4689425" y="337825"/>
            <a:ext cx="1629747" cy="1443475"/>
          </a:xfrm>
          <a:prstGeom prst="rect">
            <a:avLst/>
          </a:prstGeom>
          <a:noFill/>
          <a:ln cap="flat" cmpd="sng" w="19050">
            <a:solidFill>
              <a:schemeClr val="lt1"/>
            </a:solidFill>
            <a:prstDash val="solid"/>
            <a:round/>
            <a:headEnd len="sm" w="sm" type="none"/>
            <a:tailEnd len="sm" w="sm" type="none"/>
          </a:ln>
        </p:spPr>
      </p:pic>
      <p:sp>
        <p:nvSpPr>
          <p:cNvPr id="77" name="Google Shape;77;p3"/>
          <p:cNvSpPr txBox="1"/>
          <p:nvPr/>
        </p:nvSpPr>
        <p:spPr>
          <a:xfrm>
            <a:off x="5613275" y="383825"/>
            <a:ext cx="7059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es-419" sz="1700" u="sng" cap="none" strike="noStrike">
                <a:solidFill>
                  <a:schemeClr val="lt1"/>
                </a:solidFill>
                <a:latin typeface="Arial"/>
                <a:ea typeface="Arial"/>
                <a:cs typeface="Arial"/>
                <a:sym typeface="Arial"/>
              </a:rPr>
              <a:t>SMC</a:t>
            </a:r>
            <a:endParaRPr b="0" i="0" sz="1700" u="sng" cap="none" strike="noStrike">
              <a:solidFill>
                <a:schemeClr val="lt1"/>
              </a:solidFill>
              <a:latin typeface="Arial"/>
              <a:ea typeface="Arial"/>
              <a:cs typeface="Arial"/>
              <a:sym typeface="Arial"/>
            </a:endParaRPr>
          </a:p>
        </p:txBody>
      </p:sp>
      <p:sp>
        <p:nvSpPr>
          <p:cNvPr id="78" name="Google Shape;78;p3"/>
          <p:cNvSpPr txBox="1"/>
          <p:nvPr/>
        </p:nvSpPr>
        <p:spPr>
          <a:xfrm>
            <a:off x="4689425" y="1750550"/>
            <a:ext cx="2052300" cy="55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s-419" sz="1200" u="none" cap="none" strike="noStrike">
                <a:solidFill>
                  <a:schemeClr val="lt1"/>
                </a:solidFill>
                <a:latin typeface="Arial"/>
                <a:ea typeface="Arial"/>
                <a:cs typeface="Arial"/>
                <a:sym typeface="Arial"/>
              </a:rPr>
              <a:t>Source: </a:t>
            </a:r>
            <a:endParaRPr b="0" i="0" sz="1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419" sz="1200" u="none" cap="none" strike="noStrike">
                <a:solidFill>
                  <a:schemeClr val="lt1"/>
                </a:solidFill>
                <a:latin typeface="Arial"/>
                <a:ea typeface="Arial"/>
                <a:cs typeface="Arial"/>
                <a:sym typeface="Arial"/>
              </a:rPr>
              <a:t>ESO/VISTA VMC</a:t>
            </a:r>
            <a:endParaRPr b="0" i="0" sz="1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419" sz="1200" u="none" cap="none" strike="noStrike">
                <a:solidFill>
                  <a:schemeClr val="lt1"/>
                </a:solidFill>
                <a:latin typeface="Arial"/>
                <a:ea typeface="Arial"/>
                <a:cs typeface="Arial"/>
                <a:sym typeface="Arial"/>
              </a:rPr>
              <a:t>eso.org</a:t>
            </a:r>
            <a:endParaRPr b="0" i="0" sz="1200" u="none" cap="none" strike="noStrike">
              <a:solidFill>
                <a:schemeClr val="lt1"/>
              </a:solidFill>
              <a:latin typeface="Arial"/>
              <a:ea typeface="Arial"/>
              <a:cs typeface="Arial"/>
              <a:sym typeface="Arial"/>
            </a:endParaRPr>
          </a:p>
        </p:txBody>
      </p:sp>
      <p:sp>
        <p:nvSpPr>
          <p:cNvPr id="79" name="Google Shape;79;p3"/>
          <p:cNvSpPr txBox="1"/>
          <p:nvPr/>
        </p:nvSpPr>
        <p:spPr>
          <a:xfrm>
            <a:off x="1115225" y="2844775"/>
            <a:ext cx="2463900" cy="67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s-419" sz="1000" u="none" cap="none" strike="noStrike">
                <a:solidFill>
                  <a:schemeClr val="lt1"/>
                </a:solidFill>
                <a:latin typeface="Arial"/>
                <a:ea typeface="Arial"/>
                <a:cs typeface="Arial"/>
                <a:sym typeface="Arial"/>
              </a:rPr>
              <a:t>Source: Nidever, D. et al (2020)</a:t>
            </a:r>
            <a:endParaRPr b="0" i="0" sz="1000" u="none" cap="none" strike="noStrike">
              <a:solidFill>
                <a:schemeClr val="lt1"/>
              </a:solidFill>
              <a:latin typeface="Arial"/>
              <a:ea typeface="Arial"/>
              <a:cs typeface="Arial"/>
              <a:sym typeface="Arial"/>
            </a:endParaRPr>
          </a:p>
        </p:txBody>
      </p:sp>
      <p:pic>
        <p:nvPicPr>
          <p:cNvPr id="80" name="Google Shape;80;p3"/>
          <p:cNvPicPr preferRelativeResize="0"/>
          <p:nvPr/>
        </p:nvPicPr>
        <p:blipFill rotWithShape="1">
          <a:blip r:embed="rId6">
            <a:alphaModFix/>
          </a:blip>
          <a:srcRect b="0" l="0" r="0" t="0"/>
          <a:stretch/>
        </p:blipFill>
        <p:spPr>
          <a:xfrm>
            <a:off x="833098" y="956525"/>
            <a:ext cx="2961669" cy="1918899"/>
          </a:xfrm>
          <a:prstGeom prst="rect">
            <a:avLst/>
          </a:prstGeom>
          <a:noFill/>
          <a:ln>
            <a:noFill/>
          </a:ln>
        </p:spPr>
      </p:pic>
      <p:pic>
        <p:nvPicPr>
          <p:cNvPr id="81" name="Google Shape;81;p3"/>
          <p:cNvPicPr preferRelativeResize="0"/>
          <p:nvPr/>
        </p:nvPicPr>
        <p:blipFill rotWithShape="1">
          <a:blip r:embed="rId7">
            <a:alphaModFix/>
          </a:blip>
          <a:srcRect b="0" l="0" r="0" t="0"/>
          <a:stretch/>
        </p:blipFill>
        <p:spPr>
          <a:xfrm>
            <a:off x="4727750" y="2647950"/>
            <a:ext cx="1629750" cy="1490955"/>
          </a:xfrm>
          <a:prstGeom prst="rect">
            <a:avLst/>
          </a:prstGeom>
          <a:noFill/>
          <a:ln cap="flat" cmpd="sng" w="19050">
            <a:solidFill>
              <a:schemeClr val="lt1"/>
            </a:solidFill>
            <a:prstDash val="solid"/>
            <a:round/>
            <a:headEnd len="sm" w="sm" type="none"/>
            <a:tailEnd len="sm" w="sm" type="none"/>
          </a:ln>
        </p:spPr>
      </p:pic>
      <p:sp>
        <p:nvSpPr>
          <p:cNvPr id="82" name="Google Shape;82;p3"/>
          <p:cNvSpPr txBox="1"/>
          <p:nvPr/>
        </p:nvSpPr>
        <p:spPr>
          <a:xfrm>
            <a:off x="4727750" y="4138900"/>
            <a:ext cx="2138700" cy="55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s-419" sz="1200" u="none" cap="none" strike="noStrike">
                <a:solidFill>
                  <a:schemeClr val="lt1"/>
                </a:solidFill>
                <a:latin typeface="Arial"/>
                <a:ea typeface="Arial"/>
                <a:cs typeface="Arial"/>
                <a:sym typeface="Arial"/>
              </a:rPr>
              <a:t>Source: MPG/ESO</a:t>
            </a:r>
            <a:endParaRPr b="0" i="0" sz="1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419" sz="1200" u="none" cap="none" strike="noStrike">
                <a:solidFill>
                  <a:schemeClr val="lt1"/>
                </a:solidFill>
                <a:latin typeface="Arial"/>
                <a:ea typeface="Arial"/>
                <a:cs typeface="Arial"/>
                <a:sym typeface="Arial"/>
              </a:rPr>
              <a:t>eso.org</a:t>
            </a:r>
            <a:endParaRPr b="0" i="0" sz="1200" u="none" cap="none" strike="noStrike">
              <a:solidFill>
                <a:schemeClr val="lt1"/>
              </a:solidFill>
              <a:latin typeface="Arial"/>
              <a:ea typeface="Arial"/>
              <a:cs typeface="Arial"/>
              <a:sym typeface="Arial"/>
            </a:endParaRPr>
          </a:p>
        </p:txBody>
      </p:sp>
      <p:sp>
        <p:nvSpPr>
          <p:cNvPr id="83" name="Google Shape;83;p3"/>
          <p:cNvSpPr txBox="1"/>
          <p:nvPr/>
        </p:nvSpPr>
        <p:spPr>
          <a:xfrm>
            <a:off x="5338700" y="2652900"/>
            <a:ext cx="1018800" cy="46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es-419" sz="1700" u="sng" cap="none" strike="noStrike">
                <a:solidFill>
                  <a:schemeClr val="lt1"/>
                </a:solidFill>
                <a:latin typeface="Arial"/>
                <a:ea typeface="Arial"/>
                <a:cs typeface="Arial"/>
                <a:sym typeface="Arial"/>
              </a:rPr>
              <a:t>Sculptor</a:t>
            </a:r>
            <a:endParaRPr b="0" i="0" sz="1700" u="sng" cap="none" strike="noStrike">
              <a:solidFill>
                <a:schemeClr val="lt1"/>
              </a:solidFill>
              <a:latin typeface="Arial"/>
              <a:ea typeface="Arial"/>
              <a:cs typeface="Arial"/>
              <a:sym typeface="Arial"/>
            </a:endParaRPr>
          </a:p>
        </p:txBody>
      </p:sp>
      <p:sp>
        <p:nvSpPr>
          <p:cNvPr id="84" name="Google Shape;84;p3"/>
          <p:cNvSpPr txBox="1"/>
          <p:nvPr/>
        </p:nvSpPr>
        <p:spPr>
          <a:xfrm>
            <a:off x="6788275" y="4173650"/>
            <a:ext cx="2273400" cy="75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s-419" sz="1200" u="none" cap="none" strike="noStrike">
                <a:solidFill>
                  <a:srgbClr val="F8F9FA"/>
                </a:solidFill>
                <a:latin typeface="Arial"/>
                <a:ea typeface="Arial"/>
                <a:cs typeface="Arial"/>
                <a:sym typeface="Arial"/>
              </a:rPr>
              <a:t>Source: </a:t>
            </a:r>
            <a:r>
              <a:rPr b="0" i="0" lang="es-419" sz="1200" u="none" cap="none" strike="noStrike">
                <a:solidFill>
                  <a:schemeClr val="lt1"/>
                </a:solidFill>
                <a:latin typeface="Arial"/>
                <a:ea typeface="Arial"/>
                <a:cs typeface="Arial"/>
                <a:sym typeface="Arial"/>
              </a:rPr>
              <a:t>ESO/Digitized Sky Survey 2</a:t>
            </a:r>
            <a:endParaRPr b="0" i="0" sz="1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419" sz="1200" u="none" cap="none" strike="noStrike">
                <a:solidFill>
                  <a:srgbClr val="F8F9FA"/>
                </a:solidFill>
                <a:latin typeface="Arial"/>
                <a:ea typeface="Arial"/>
                <a:cs typeface="Arial"/>
                <a:sym typeface="Arial"/>
              </a:rPr>
              <a:t>eso.org</a:t>
            </a:r>
            <a:endParaRPr b="0" i="0" sz="1200" u="none" cap="none" strike="noStrike">
              <a:solidFill>
                <a:srgbClr val="F8F9FA"/>
              </a:solidFill>
              <a:latin typeface="Arial"/>
              <a:ea typeface="Arial"/>
              <a:cs typeface="Arial"/>
              <a:sym typeface="Arial"/>
            </a:endParaRPr>
          </a:p>
        </p:txBody>
      </p:sp>
      <p:sp>
        <p:nvSpPr>
          <p:cNvPr id="85" name="Google Shape;85;p3"/>
          <p:cNvSpPr txBox="1"/>
          <p:nvPr/>
        </p:nvSpPr>
        <p:spPr>
          <a:xfrm>
            <a:off x="7262250" y="3085575"/>
            <a:ext cx="1018800" cy="399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86" name="Google Shape;86;p3"/>
          <p:cNvPicPr preferRelativeResize="0"/>
          <p:nvPr/>
        </p:nvPicPr>
        <p:blipFill rotWithShape="1">
          <a:blip r:embed="rId8">
            <a:alphaModFix/>
          </a:blip>
          <a:srcRect b="0" l="0" r="0" t="0"/>
          <a:stretch/>
        </p:blipFill>
        <p:spPr>
          <a:xfrm>
            <a:off x="6849900" y="2633525"/>
            <a:ext cx="1843501" cy="1490950"/>
          </a:xfrm>
          <a:prstGeom prst="rect">
            <a:avLst/>
          </a:prstGeom>
          <a:noFill/>
          <a:ln cap="flat" cmpd="sng" w="19050">
            <a:solidFill>
              <a:schemeClr val="lt1"/>
            </a:solidFill>
            <a:prstDash val="solid"/>
            <a:round/>
            <a:headEnd len="sm" w="sm" type="none"/>
            <a:tailEnd len="sm" w="sm" type="none"/>
          </a:ln>
        </p:spPr>
      </p:pic>
      <p:sp>
        <p:nvSpPr>
          <p:cNvPr id="87" name="Google Shape;87;p3"/>
          <p:cNvSpPr txBox="1"/>
          <p:nvPr/>
        </p:nvSpPr>
        <p:spPr>
          <a:xfrm>
            <a:off x="7700800" y="2652900"/>
            <a:ext cx="917700" cy="30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es-419" sz="1700" u="sng" cap="none" strike="noStrike">
                <a:solidFill>
                  <a:srgbClr val="F8F9FA"/>
                </a:solidFill>
                <a:latin typeface="Arial"/>
                <a:ea typeface="Arial"/>
                <a:cs typeface="Arial"/>
                <a:sym typeface="Arial"/>
              </a:rPr>
              <a:t>Fornax</a:t>
            </a:r>
            <a:endParaRPr b="0" i="0" sz="1700" u="sng" cap="none" strike="noStrike">
              <a:solidFill>
                <a:srgbClr val="F8F9FA"/>
              </a:solidFill>
              <a:latin typeface="Arial"/>
              <a:ea typeface="Arial"/>
              <a:cs typeface="Arial"/>
              <a:sym typeface="Arial"/>
            </a:endParaRPr>
          </a:p>
        </p:txBody>
      </p:sp>
      <p:sp>
        <p:nvSpPr>
          <p:cNvPr id="88" name="Google Shape;88;p3"/>
          <p:cNvSpPr txBox="1"/>
          <p:nvPr/>
        </p:nvSpPr>
        <p:spPr>
          <a:xfrm>
            <a:off x="83377" y="89000"/>
            <a:ext cx="5010900" cy="80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s-419" sz="2400" u="none" cap="none" strike="noStrike">
                <a:solidFill>
                  <a:schemeClr val="lt1"/>
                </a:solidFill>
                <a:latin typeface="Arial"/>
                <a:ea typeface="Arial"/>
                <a:cs typeface="Arial"/>
                <a:sym typeface="Arial"/>
              </a:rPr>
              <a:t>The problem with the Magellanic Clouds</a:t>
            </a:r>
            <a:endParaRPr b="0" i="0" sz="2400" u="none" cap="none" strike="noStrike">
              <a:solidFill>
                <a:schemeClr val="lt1"/>
              </a:solidFill>
              <a:latin typeface="Arial"/>
              <a:ea typeface="Arial"/>
              <a:cs typeface="Arial"/>
              <a:sym typeface="Arial"/>
            </a:endParaRPr>
          </a:p>
        </p:txBody>
      </p:sp>
      <p:pic>
        <p:nvPicPr>
          <p:cNvPr id="89" name="Google Shape;89;p3"/>
          <p:cNvPicPr preferRelativeResize="0"/>
          <p:nvPr/>
        </p:nvPicPr>
        <p:blipFill rotWithShape="1">
          <a:blip r:embed="rId9">
            <a:alphaModFix/>
          </a:blip>
          <a:srcRect b="0" l="0" r="0" t="0"/>
          <a:stretch/>
        </p:blipFill>
        <p:spPr>
          <a:xfrm>
            <a:off x="833100" y="3127100"/>
            <a:ext cx="2961674" cy="1944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4"/>
          <p:cNvSpPr/>
          <p:nvPr/>
        </p:nvSpPr>
        <p:spPr>
          <a:xfrm>
            <a:off x="0" y="0"/>
            <a:ext cx="9464040" cy="5482971"/>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95" name="Google Shape;95;p4"/>
          <p:cNvSpPr txBox="1"/>
          <p:nvPr>
            <p:ph type="title"/>
          </p:nvPr>
        </p:nvSpPr>
        <p:spPr>
          <a:xfrm>
            <a:off x="311700" y="2496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lang="es-419" sz="3520">
                <a:solidFill>
                  <a:schemeClr val="lt1"/>
                </a:solidFill>
              </a:rPr>
              <a:t>LMC Properties</a:t>
            </a:r>
            <a:endParaRPr sz="3520">
              <a:solidFill>
                <a:schemeClr val="lt1"/>
              </a:solidFill>
            </a:endParaRPr>
          </a:p>
          <a:p>
            <a:pPr indent="0" lvl="0" marL="0" rtl="0" algn="l">
              <a:lnSpc>
                <a:spcPct val="100000"/>
              </a:lnSpc>
              <a:spcBef>
                <a:spcPts val="0"/>
              </a:spcBef>
              <a:spcAft>
                <a:spcPts val="0"/>
              </a:spcAft>
              <a:buSzPts val="990"/>
              <a:buNone/>
            </a:pPr>
            <a:r>
              <a:t/>
            </a:r>
            <a:endParaRPr sz="2520">
              <a:solidFill>
                <a:schemeClr val="lt1"/>
              </a:solidFill>
            </a:endParaRPr>
          </a:p>
        </p:txBody>
      </p:sp>
      <p:sp>
        <p:nvSpPr>
          <p:cNvPr id="96" name="Google Shape;96;p4"/>
          <p:cNvSpPr txBox="1"/>
          <p:nvPr>
            <p:ph idx="1" type="body"/>
          </p:nvPr>
        </p:nvSpPr>
        <p:spPr>
          <a:xfrm>
            <a:off x="211725" y="1191200"/>
            <a:ext cx="4609500" cy="36117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lt1"/>
              </a:buClr>
              <a:buSzPts val="1800"/>
              <a:buChar char="●"/>
            </a:pPr>
            <a:r>
              <a:rPr lang="es-419">
                <a:solidFill>
                  <a:schemeClr val="lt1"/>
                </a:solidFill>
              </a:rPr>
              <a:t>The LMC has a stellar mass around 10</a:t>
            </a:r>
            <a:r>
              <a:rPr baseline="30000" lang="es-419">
                <a:solidFill>
                  <a:schemeClr val="lt1"/>
                </a:solidFill>
              </a:rPr>
              <a:t>9.43</a:t>
            </a:r>
            <a:r>
              <a:rPr lang="es-419">
                <a:solidFill>
                  <a:schemeClr val="lt1"/>
                </a:solidFill>
              </a:rPr>
              <a:t> M</a:t>
            </a:r>
            <a:r>
              <a:rPr baseline="-25000" lang="es-419">
                <a:solidFill>
                  <a:schemeClr val="lt1"/>
                </a:solidFill>
              </a:rPr>
              <a:t>☉</a:t>
            </a:r>
            <a:r>
              <a:rPr lang="es-419">
                <a:solidFill>
                  <a:schemeClr val="lt1"/>
                </a:solidFill>
              </a:rPr>
              <a:t> (Shipp et al. 2020)</a:t>
            </a:r>
            <a:endParaRPr>
              <a:solidFill>
                <a:schemeClr val="lt1"/>
              </a:solidFill>
            </a:endParaRPr>
          </a:p>
          <a:p>
            <a:pPr indent="0" lvl="0" marL="0" rtl="0" algn="l">
              <a:lnSpc>
                <a:spcPct val="115000"/>
              </a:lnSpc>
              <a:spcBef>
                <a:spcPts val="1200"/>
              </a:spcBef>
              <a:spcAft>
                <a:spcPts val="0"/>
              </a:spcAft>
              <a:buSzPts val="1800"/>
              <a:buNone/>
            </a:pPr>
            <a:r>
              <a:t/>
            </a:r>
            <a:endParaRPr sz="100">
              <a:solidFill>
                <a:schemeClr val="lt1"/>
              </a:solidFill>
            </a:endParaRPr>
          </a:p>
          <a:p>
            <a:pPr indent="-342900" lvl="0" marL="457200" rtl="0" algn="l">
              <a:lnSpc>
                <a:spcPct val="115000"/>
              </a:lnSpc>
              <a:spcBef>
                <a:spcPts val="1200"/>
              </a:spcBef>
              <a:spcAft>
                <a:spcPts val="0"/>
              </a:spcAft>
              <a:buClr>
                <a:schemeClr val="lt1"/>
              </a:buClr>
              <a:buSzPts val="1800"/>
              <a:buChar char="●"/>
            </a:pPr>
            <a:r>
              <a:rPr lang="es-419">
                <a:solidFill>
                  <a:schemeClr val="lt1"/>
                </a:solidFill>
              </a:rPr>
              <a:t>The 𝛼-element knee is at [Fe/H] ≈ -2.2, lower than others less massive Milky Way dwarf galaxies, and it has a low SFE ≈0.01 Gyr</a:t>
            </a:r>
            <a:r>
              <a:rPr baseline="30000" lang="es-419">
                <a:solidFill>
                  <a:schemeClr val="lt1"/>
                </a:solidFill>
              </a:rPr>
              <a:t>-1</a:t>
            </a:r>
            <a:r>
              <a:rPr lang="es-419">
                <a:solidFill>
                  <a:schemeClr val="lt1"/>
                </a:solidFill>
              </a:rPr>
              <a:t>. This low value suggest that the LMC was formed in a lower density environment (Nidever et al. 2020).</a:t>
            </a:r>
            <a:endParaRPr>
              <a:solidFill>
                <a:schemeClr val="lt1"/>
              </a:solidFill>
            </a:endParaRPr>
          </a:p>
        </p:txBody>
      </p:sp>
      <p:pic>
        <p:nvPicPr>
          <p:cNvPr id="97" name="Google Shape;97;p4"/>
          <p:cNvPicPr preferRelativeResize="0"/>
          <p:nvPr/>
        </p:nvPicPr>
        <p:blipFill rotWithShape="1">
          <a:blip r:embed="rId4">
            <a:alphaModFix/>
          </a:blip>
          <a:srcRect b="0" l="0" r="0" t="0"/>
          <a:stretch/>
        </p:blipFill>
        <p:spPr>
          <a:xfrm>
            <a:off x="5332950" y="1112213"/>
            <a:ext cx="3266074" cy="2919076"/>
          </a:xfrm>
          <a:prstGeom prst="rect">
            <a:avLst/>
          </a:prstGeom>
          <a:noFill/>
          <a:ln cap="flat" cmpd="sng" w="19050">
            <a:solidFill>
              <a:schemeClr val="lt1"/>
            </a:solidFill>
            <a:prstDash val="solid"/>
            <a:round/>
            <a:headEnd len="sm" w="sm" type="none"/>
            <a:tailEnd len="sm" w="sm" type="none"/>
          </a:ln>
        </p:spPr>
      </p:pic>
      <p:sp>
        <p:nvSpPr>
          <p:cNvPr id="98" name="Google Shape;98;p4"/>
          <p:cNvSpPr txBox="1"/>
          <p:nvPr/>
        </p:nvSpPr>
        <p:spPr>
          <a:xfrm>
            <a:off x="4947138" y="4125800"/>
            <a:ext cx="40377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s-419" sz="1600" u="none" cap="none" strike="noStrike">
                <a:solidFill>
                  <a:schemeClr val="lt1"/>
                </a:solidFill>
                <a:latin typeface="Arial"/>
                <a:ea typeface="Arial"/>
                <a:cs typeface="Arial"/>
                <a:sym typeface="Arial"/>
              </a:rPr>
              <a:t>Source: Eckhard Slawik / ESA/Hubble</a:t>
            </a:r>
            <a:endParaRPr b="0" i="0" sz="1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419" sz="1600" u="none" cap="none" strike="noStrike">
                <a:solidFill>
                  <a:schemeClr val="lt1"/>
                </a:solidFill>
                <a:latin typeface="Arial"/>
                <a:ea typeface="Arial"/>
                <a:cs typeface="Arial"/>
                <a:sym typeface="Arial"/>
              </a:rPr>
              <a:t>(</a:t>
            </a:r>
            <a:r>
              <a:rPr b="0" i="0" lang="es-419" sz="1600" u="sng" cap="none" strike="noStrike">
                <a:solidFill>
                  <a:schemeClr val="hlink"/>
                </a:solidFill>
                <a:latin typeface="Arial"/>
                <a:ea typeface="Arial"/>
                <a:cs typeface="Arial"/>
                <a:sym typeface="Arial"/>
                <a:hlinkClick r:id="rId5"/>
              </a:rPr>
              <a:t>https://esahubble.org/images/heic0411d/</a:t>
            </a:r>
            <a:r>
              <a:rPr b="0" i="0" lang="es-419" sz="1600" u="none" cap="none" strike="noStrike">
                <a:solidFill>
                  <a:schemeClr val="lt1"/>
                </a:solidFill>
                <a:latin typeface="Arial"/>
                <a:ea typeface="Arial"/>
                <a:cs typeface="Arial"/>
                <a:sym typeface="Arial"/>
              </a:rPr>
              <a:t>)</a:t>
            </a:r>
            <a:endParaRPr b="0" i="0" sz="1600" u="none" cap="none" strike="noStrik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5"/>
          <p:cNvSpPr/>
          <p:nvPr/>
        </p:nvSpPr>
        <p:spPr>
          <a:xfrm>
            <a:off x="0" y="0"/>
            <a:ext cx="9144000" cy="5147901"/>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104" name="Google Shape;104;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solidFill>
                  <a:schemeClr val="lt1"/>
                </a:solidFill>
              </a:rPr>
              <a:t>IllustrisTNG: High Resolution Cosmology Simulations  </a:t>
            </a:r>
            <a:endParaRPr/>
          </a:p>
        </p:txBody>
      </p:sp>
      <p:sp>
        <p:nvSpPr>
          <p:cNvPr id="105" name="Google Shape;105;p5"/>
          <p:cNvSpPr txBox="1"/>
          <p:nvPr>
            <p:ph idx="1" type="body"/>
          </p:nvPr>
        </p:nvSpPr>
        <p:spPr>
          <a:xfrm>
            <a:off x="49450" y="1157238"/>
            <a:ext cx="47859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lt1"/>
              </a:buClr>
              <a:buSzPts val="1800"/>
              <a:buChar char="●"/>
            </a:pPr>
            <a:r>
              <a:rPr lang="es-419">
                <a:solidFill>
                  <a:schemeClr val="lt1"/>
                </a:solidFill>
              </a:rPr>
              <a:t>What is IllustrisTNG?</a:t>
            </a:r>
            <a:endParaRPr>
              <a:solidFill>
                <a:schemeClr val="lt1"/>
              </a:solidFill>
            </a:endParaRPr>
          </a:p>
          <a:p>
            <a:pPr indent="0" lvl="0" marL="0" rtl="0" algn="l">
              <a:lnSpc>
                <a:spcPct val="115000"/>
              </a:lnSpc>
              <a:spcBef>
                <a:spcPts val="1200"/>
              </a:spcBef>
              <a:spcAft>
                <a:spcPts val="0"/>
              </a:spcAft>
              <a:buSzPts val="1800"/>
              <a:buNone/>
            </a:pPr>
            <a:r>
              <a:t/>
            </a:r>
            <a:endParaRPr>
              <a:solidFill>
                <a:schemeClr val="lt1"/>
              </a:solidFill>
            </a:endParaRPr>
          </a:p>
          <a:p>
            <a:pPr indent="-342900" lvl="0" marL="457200" rtl="0" algn="l">
              <a:lnSpc>
                <a:spcPct val="115000"/>
              </a:lnSpc>
              <a:spcBef>
                <a:spcPts val="1200"/>
              </a:spcBef>
              <a:spcAft>
                <a:spcPts val="0"/>
              </a:spcAft>
              <a:buClr>
                <a:schemeClr val="lt1"/>
              </a:buClr>
              <a:buSzPts val="1800"/>
              <a:buChar char="●"/>
            </a:pPr>
            <a:r>
              <a:rPr lang="es-419">
                <a:solidFill>
                  <a:schemeClr val="lt1"/>
                </a:solidFill>
              </a:rPr>
              <a:t>Main Simulations</a:t>
            </a:r>
            <a:endParaRPr>
              <a:solidFill>
                <a:schemeClr val="lt1"/>
              </a:solidFill>
            </a:endParaRPr>
          </a:p>
          <a:p>
            <a:pPr indent="0" lvl="0" marL="0" rtl="0" algn="l">
              <a:lnSpc>
                <a:spcPct val="115000"/>
              </a:lnSpc>
              <a:spcBef>
                <a:spcPts val="1200"/>
              </a:spcBef>
              <a:spcAft>
                <a:spcPts val="0"/>
              </a:spcAft>
              <a:buSzPts val="1800"/>
              <a:buNone/>
            </a:pPr>
            <a:r>
              <a:t/>
            </a:r>
            <a:endParaRPr>
              <a:solidFill>
                <a:schemeClr val="lt1"/>
              </a:solidFill>
            </a:endParaRPr>
          </a:p>
          <a:p>
            <a:pPr indent="-342900" lvl="0" marL="457200" rtl="0" algn="l">
              <a:lnSpc>
                <a:spcPct val="115000"/>
              </a:lnSpc>
              <a:spcBef>
                <a:spcPts val="1200"/>
              </a:spcBef>
              <a:spcAft>
                <a:spcPts val="0"/>
              </a:spcAft>
              <a:buClr>
                <a:schemeClr val="lt1"/>
              </a:buClr>
              <a:buSzPts val="1800"/>
              <a:buChar char="●"/>
            </a:pPr>
            <a:r>
              <a:rPr lang="es-419">
                <a:solidFill>
                  <a:schemeClr val="lt1"/>
                </a:solidFill>
              </a:rPr>
              <a:t>Technology and computational methods </a:t>
            </a:r>
            <a:endParaRPr>
              <a:solidFill>
                <a:schemeClr val="lt1"/>
              </a:solidFill>
            </a:endParaRPr>
          </a:p>
          <a:p>
            <a:pPr indent="0" lvl="0" marL="0" rtl="0" algn="l">
              <a:lnSpc>
                <a:spcPct val="115000"/>
              </a:lnSpc>
              <a:spcBef>
                <a:spcPts val="1200"/>
              </a:spcBef>
              <a:spcAft>
                <a:spcPts val="1200"/>
              </a:spcAft>
              <a:buSzPts val="1800"/>
              <a:buNone/>
            </a:pPr>
            <a:r>
              <a:t/>
            </a:r>
            <a:endParaRPr>
              <a:solidFill>
                <a:schemeClr val="lt1"/>
              </a:solidFill>
            </a:endParaRPr>
          </a:p>
        </p:txBody>
      </p:sp>
      <p:pic>
        <p:nvPicPr>
          <p:cNvPr id="106" name="Google Shape;106;p5"/>
          <p:cNvPicPr preferRelativeResize="0"/>
          <p:nvPr/>
        </p:nvPicPr>
        <p:blipFill rotWithShape="1">
          <a:blip r:embed="rId4">
            <a:alphaModFix/>
          </a:blip>
          <a:srcRect b="0" l="0" r="0" t="0"/>
          <a:stretch/>
        </p:blipFill>
        <p:spPr>
          <a:xfrm>
            <a:off x="4835346" y="1241475"/>
            <a:ext cx="4051275" cy="2324600"/>
          </a:xfrm>
          <a:prstGeom prst="rect">
            <a:avLst/>
          </a:prstGeom>
          <a:noFill/>
          <a:ln>
            <a:noFill/>
          </a:ln>
        </p:spPr>
      </p:pic>
      <p:sp>
        <p:nvSpPr>
          <p:cNvPr id="107" name="Google Shape;107;p5"/>
          <p:cNvSpPr txBox="1"/>
          <p:nvPr/>
        </p:nvSpPr>
        <p:spPr>
          <a:xfrm>
            <a:off x="4737250" y="3618100"/>
            <a:ext cx="6584700" cy="781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s-419" sz="1100" u="none" cap="none" strike="noStrike">
                <a:solidFill>
                  <a:schemeClr val="lt1"/>
                </a:solidFill>
                <a:latin typeface="Arial"/>
                <a:ea typeface="Arial"/>
                <a:cs typeface="Arial"/>
                <a:sym typeface="Arial"/>
              </a:rPr>
              <a:t> Source: IllustrisTNG Project, https://www.tng-project.org/about/</a:t>
            </a:r>
            <a:endParaRPr b="0" i="0" sz="1100" u="none" cap="none" strike="noStrik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6"/>
          <p:cNvSpPr/>
          <p:nvPr/>
        </p:nvSpPr>
        <p:spPr>
          <a:xfrm>
            <a:off x="0" y="0"/>
            <a:ext cx="9372600" cy="5482971"/>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113" name="Google Shape;113;p6"/>
          <p:cNvSpPr txBox="1"/>
          <p:nvPr>
            <p:ph type="title"/>
          </p:nvPr>
        </p:nvSpPr>
        <p:spPr>
          <a:xfrm>
            <a:off x="311700" y="4380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solidFill>
                  <a:schemeClr val="lt1"/>
                </a:solidFill>
              </a:rPr>
              <a:t>Why use TNG50 simulation?</a:t>
            </a:r>
            <a:endParaRPr>
              <a:solidFill>
                <a:schemeClr val="lt1"/>
              </a:solidFill>
            </a:endParaRPr>
          </a:p>
        </p:txBody>
      </p:sp>
      <p:sp>
        <p:nvSpPr>
          <p:cNvPr id="114" name="Google Shape;114;p6"/>
          <p:cNvSpPr txBox="1"/>
          <p:nvPr>
            <p:ph idx="1" type="body"/>
          </p:nvPr>
        </p:nvSpPr>
        <p:spPr>
          <a:xfrm>
            <a:off x="62725" y="1316925"/>
            <a:ext cx="49794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s-419">
                <a:solidFill>
                  <a:schemeClr val="lt1"/>
                </a:solidFill>
              </a:rPr>
              <a:t>Detailed studies of individual galaxies</a:t>
            </a:r>
            <a:endParaRPr>
              <a:solidFill>
                <a:schemeClr val="lt1"/>
              </a:solidFill>
            </a:endParaRPr>
          </a:p>
          <a:p>
            <a:pPr indent="-342900" lvl="0" marL="457200" rtl="0" algn="l">
              <a:lnSpc>
                <a:spcPct val="150000"/>
              </a:lnSpc>
              <a:spcBef>
                <a:spcPts val="0"/>
              </a:spcBef>
              <a:spcAft>
                <a:spcPts val="0"/>
              </a:spcAft>
              <a:buClr>
                <a:schemeClr val="lt1"/>
              </a:buClr>
              <a:buSzPts val="1800"/>
              <a:buChar char="●"/>
            </a:pPr>
            <a:r>
              <a:rPr lang="es-419">
                <a:solidFill>
                  <a:schemeClr val="lt1"/>
                </a:solidFill>
              </a:rPr>
              <a:t>Stellar formation and evolution</a:t>
            </a:r>
            <a:endParaRPr>
              <a:solidFill>
                <a:schemeClr val="lt1"/>
              </a:solidFill>
            </a:endParaRPr>
          </a:p>
          <a:p>
            <a:pPr indent="-342900" lvl="0" marL="457200" rtl="0" algn="l">
              <a:lnSpc>
                <a:spcPct val="150000"/>
              </a:lnSpc>
              <a:spcBef>
                <a:spcPts val="0"/>
              </a:spcBef>
              <a:spcAft>
                <a:spcPts val="0"/>
              </a:spcAft>
              <a:buClr>
                <a:schemeClr val="lt1"/>
              </a:buClr>
              <a:buSzPts val="1800"/>
              <a:buChar char="●"/>
            </a:pPr>
            <a:r>
              <a:rPr lang="es-419">
                <a:solidFill>
                  <a:schemeClr val="lt1"/>
                </a:solidFill>
              </a:rPr>
              <a:t>Interaction with supermassive black holes</a:t>
            </a:r>
            <a:endParaRPr>
              <a:solidFill>
                <a:schemeClr val="lt1"/>
              </a:solidFill>
            </a:endParaRPr>
          </a:p>
          <a:p>
            <a:pPr indent="-342900" lvl="0" marL="457200" rtl="0" algn="l">
              <a:lnSpc>
                <a:spcPct val="150000"/>
              </a:lnSpc>
              <a:spcBef>
                <a:spcPts val="0"/>
              </a:spcBef>
              <a:spcAft>
                <a:spcPts val="0"/>
              </a:spcAft>
              <a:buClr>
                <a:schemeClr val="lt1"/>
              </a:buClr>
              <a:buSzPts val="1800"/>
              <a:buChar char="●"/>
            </a:pPr>
            <a:r>
              <a:rPr lang="es-419">
                <a:solidFill>
                  <a:schemeClr val="lt1"/>
                </a:solidFill>
              </a:rPr>
              <a:t>Observational predictions</a:t>
            </a:r>
            <a:endParaRPr>
              <a:solidFill>
                <a:schemeClr val="lt1"/>
              </a:solidFill>
            </a:endParaRPr>
          </a:p>
          <a:p>
            <a:pPr indent="-342900" lvl="0" marL="457200" rtl="0" algn="l">
              <a:lnSpc>
                <a:spcPct val="150000"/>
              </a:lnSpc>
              <a:spcBef>
                <a:spcPts val="0"/>
              </a:spcBef>
              <a:spcAft>
                <a:spcPts val="0"/>
              </a:spcAft>
              <a:buClr>
                <a:schemeClr val="lt1"/>
              </a:buClr>
              <a:buSzPts val="1800"/>
              <a:buChar char="●"/>
            </a:pPr>
            <a:r>
              <a:rPr lang="es-419">
                <a:solidFill>
                  <a:schemeClr val="lt1"/>
                </a:solidFill>
              </a:rPr>
              <a:t>Dark matter distribution</a:t>
            </a:r>
            <a:endParaRPr>
              <a:solidFill>
                <a:schemeClr val="lt1"/>
              </a:solidFill>
            </a:endParaRPr>
          </a:p>
        </p:txBody>
      </p:sp>
      <p:sp>
        <p:nvSpPr>
          <p:cNvPr id="115" name="Google Shape;115;p6"/>
          <p:cNvSpPr txBox="1"/>
          <p:nvPr/>
        </p:nvSpPr>
        <p:spPr>
          <a:xfrm>
            <a:off x="4737250" y="3618100"/>
            <a:ext cx="6584700" cy="781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pic>
        <p:nvPicPr>
          <p:cNvPr id="116" name="Google Shape;116;p6"/>
          <p:cNvPicPr preferRelativeResize="0"/>
          <p:nvPr/>
        </p:nvPicPr>
        <p:blipFill rotWithShape="1">
          <a:blip r:embed="rId4">
            <a:alphaModFix/>
          </a:blip>
          <a:srcRect b="0" l="0" r="0" t="0"/>
          <a:stretch/>
        </p:blipFill>
        <p:spPr>
          <a:xfrm>
            <a:off x="4913325" y="1616925"/>
            <a:ext cx="4169524" cy="2399351"/>
          </a:xfrm>
          <a:prstGeom prst="rect">
            <a:avLst/>
          </a:prstGeom>
          <a:noFill/>
          <a:ln>
            <a:noFill/>
          </a:ln>
        </p:spPr>
      </p:pic>
      <p:sp>
        <p:nvSpPr>
          <p:cNvPr id="117" name="Google Shape;117;p6"/>
          <p:cNvSpPr txBox="1"/>
          <p:nvPr/>
        </p:nvSpPr>
        <p:spPr>
          <a:xfrm>
            <a:off x="4913326" y="4045900"/>
            <a:ext cx="42576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s-419" sz="1100" u="none" cap="none" strike="noStrike">
                <a:solidFill>
                  <a:schemeClr val="lt1"/>
                </a:solidFill>
                <a:latin typeface="Arial"/>
                <a:ea typeface="Arial"/>
                <a:cs typeface="Arial"/>
                <a:sym typeface="Arial"/>
              </a:rPr>
              <a:t>Source: IllustrisTNG Project, https://www.tng-project.org/about/</a:t>
            </a:r>
            <a:endParaRPr b="0" i="0" sz="1500" u="none" cap="none" strike="noStrike">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7"/>
          <p:cNvSpPr/>
          <p:nvPr/>
        </p:nvSpPr>
        <p:spPr>
          <a:xfrm>
            <a:off x="0" y="0"/>
            <a:ext cx="9464040" cy="5482971"/>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123" name="Google Shape;123;p7"/>
          <p:cNvSpPr txBox="1"/>
          <p:nvPr>
            <p:ph idx="1" type="body"/>
          </p:nvPr>
        </p:nvSpPr>
        <p:spPr>
          <a:xfrm>
            <a:off x="481800" y="291625"/>
            <a:ext cx="8180400" cy="56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800"/>
              <a:buNone/>
            </a:pPr>
            <a:r>
              <a:rPr lang="es-419" sz="3520">
                <a:solidFill>
                  <a:schemeClr val="lt1"/>
                </a:solidFill>
              </a:rPr>
              <a:t>The </a:t>
            </a:r>
            <a:r>
              <a:rPr lang="es-419" sz="3500">
                <a:solidFill>
                  <a:schemeClr val="lt1"/>
                </a:solidFill>
              </a:rPr>
              <a:t>α</a:t>
            </a:r>
            <a:r>
              <a:rPr lang="es-419" sz="3220">
                <a:solidFill>
                  <a:schemeClr val="lt1"/>
                </a:solidFill>
              </a:rPr>
              <a:t>-elements abundance plot</a:t>
            </a:r>
            <a:r>
              <a:rPr lang="es-419" sz="3500">
                <a:solidFill>
                  <a:schemeClr val="lt1"/>
                </a:solidFill>
              </a:rPr>
              <a:t> in TNG50</a:t>
            </a:r>
            <a:endParaRPr sz="3500">
              <a:solidFill>
                <a:schemeClr val="lt1"/>
              </a:solidFill>
            </a:endParaRPr>
          </a:p>
        </p:txBody>
      </p:sp>
      <p:pic>
        <p:nvPicPr>
          <p:cNvPr id="124" name="Google Shape;124;p7"/>
          <p:cNvPicPr preferRelativeResize="0"/>
          <p:nvPr/>
        </p:nvPicPr>
        <p:blipFill rotWithShape="1">
          <a:blip r:embed="rId4">
            <a:alphaModFix/>
          </a:blip>
          <a:srcRect b="0" l="0" r="0" t="0"/>
          <a:stretch/>
        </p:blipFill>
        <p:spPr>
          <a:xfrm>
            <a:off x="240575" y="1121088"/>
            <a:ext cx="4385901" cy="2782225"/>
          </a:xfrm>
          <a:prstGeom prst="rect">
            <a:avLst/>
          </a:prstGeom>
          <a:noFill/>
          <a:ln>
            <a:noFill/>
          </a:ln>
        </p:spPr>
      </p:pic>
      <p:sp>
        <p:nvSpPr>
          <p:cNvPr id="125" name="Google Shape;125;p7"/>
          <p:cNvSpPr txBox="1"/>
          <p:nvPr/>
        </p:nvSpPr>
        <p:spPr>
          <a:xfrm>
            <a:off x="240575" y="3938300"/>
            <a:ext cx="3592800" cy="56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s-419" sz="1200" u="none" cap="none" strike="noStrike">
                <a:solidFill>
                  <a:schemeClr val="lt1"/>
                </a:solidFill>
                <a:latin typeface="Arial"/>
                <a:ea typeface="Arial"/>
                <a:cs typeface="Arial"/>
                <a:sym typeface="Arial"/>
              </a:rPr>
              <a:t>Source: ASTF510: Astrofísica Estelar Avanzada, 1er sem/2024, prof. Bruno Dias</a:t>
            </a:r>
            <a:endParaRPr b="0" i="0" sz="1200" u="none" cap="none" strike="noStrike">
              <a:solidFill>
                <a:schemeClr val="lt1"/>
              </a:solidFill>
              <a:latin typeface="Arial"/>
              <a:ea typeface="Arial"/>
              <a:cs typeface="Arial"/>
              <a:sym typeface="Arial"/>
            </a:endParaRPr>
          </a:p>
        </p:txBody>
      </p:sp>
      <p:sp>
        <p:nvSpPr>
          <p:cNvPr id="126" name="Google Shape;126;p7"/>
          <p:cNvSpPr txBox="1"/>
          <p:nvPr/>
        </p:nvSpPr>
        <p:spPr>
          <a:xfrm>
            <a:off x="4907588" y="3963800"/>
            <a:ext cx="3631200" cy="515700"/>
          </a:xfrm>
          <a:prstGeom prst="rect">
            <a:avLst/>
          </a:prstGeom>
          <a:noFill/>
          <a:ln>
            <a:noFill/>
          </a:ln>
        </p:spPr>
        <p:txBody>
          <a:bodyPr anchorCtr="0" anchor="t" bIns="91425" lIns="91425" spcFirstLastPara="1" rIns="91425" wrap="square" tIns="91425">
            <a:noAutofit/>
          </a:bodyPr>
          <a:lstStyle/>
          <a:p>
            <a:pPr indent="0" lvl="0" marL="0" marR="0" rtl="0" algn="l">
              <a:lnSpc>
                <a:spcPct val="95000"/>
              </a:lnSpc>
              <a:spcBef>
                <a:spcPts val="0"/>
              </a:spcBef>
              <a:spcAft>
                <a:spcPts val="1200"/>
              </a:spcAft>
              <a:buClr>
                <a:schemeClr val="dk1"/>
              </a:buClr>
              <a:buSzPts val="935"/>
              <a:buFont typeface="Arial"/>
              <a:buNone/>
            </a:pPr>
            <a:r>
              <a:rPr b="0" i="0" lang="es-419" sz="1430" u="none" cap="none" strike="noStrike">
                <a:solidFill>
                  <a:schemeClr val="lt1"/>
                </a:solidFill>
                <a:latin typeface="Arial"/>
                <a:ea typeface="Arial"/>
                <a:cs typeface="Arial"/>
                <a:sym typeface="Arial"/>
              </a:rPr>
              <a:t>SFE; star formation rate divided by gas mass</a:t>
            </a:r>
            <a:endParaRPr b="0" i="0" sz="1800" u="none" cap="none" strike="noStrike">
              <a:solidFill>
                <a:schemeClr val="dk2"/>
              </a:solidFill>
              <a:latin typeface="Arial"/>
              <a:ea typeface="Arial"/>
              <a:cs typeface="Arial"/>
              <a:sym typeface="Arial"/>
            </a:endParaRPr>
          </a:p>
        </p:txBody>
      </p:sp>
      <p:pic>
        <p:nvPicPr>
          <p:cNvPr id="127" name="Google Shape;127;p7"/>
          <p:cNvPicPr preferRelativeResize="0"/>
          <p:nvPr/>
        </p:nvPicPr>
        <p:blipFill rotWithShape="1">
          <a:blip r:embed="rId5">
            <a:alphaModFix/>
          </a:blip>
          <a:srcRect b="0" l="0" r="0" t="0"/>
          <a:stretch/>
        </p:blipFill>
        <p:spPr>
          <a:xfrm>
            <a:off x="4437350" y="1121100"/>
            <a:ext cx="4636975" cy="278219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8"/>
          <p:cNvSpPr/>
          <p:nvPr/>
        </p:nvSpPr>
        <p:spPr>
          <a:xfrm>
            <a:off x="0" y="0"/>
            <a:ext cx="9509760" cy="5482971"/>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133" name="Google Shape;133;p8"/>
          <p:cNvSpPr txBox="1"/>
          <p:nvPr>
            <p:ph type="title"/>
          </p:nvPr>
        </p:nvSpPr>
        <p:spPr>
          <a:xfrm>
            <a:off x="1453050" y="110025"/>
            <a:ext cx="71334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lang="es-419" sz="3500">
                <a:solidFill>
                  <a:schemeClr val="lt1"/>
                </a:solidFill>
              </a:rPr>
              <a:t>α</a:t>
            </a:r>
            <a:r>
              <a:rPr lang="es-419" sz="3020">
                <a:solidFill>
                  <a:schemeClr val="lt1"/>
                </a:solidFill>
              </a:rPr>
              <a:t> abundance for different dwarf Galaxies</a:t>
            </a:r>
            <a:endParaRPr sz="3020">
              <a:solidFill>
                <a:schemeClr val="lt1"/>
              </a:solidFill>
            </a:endParaRPr>
          </a:p>
        </p:txBody>
      </p:sp>
      <p:graphicFrame>
        <p:nvGraphicFramePr>
          <p:cNvPr id="134" name="Google Shape;134;p8"/>
          <p:cNvGraphicFramePr/>
          <p:nvPr/>
        </p:nvGraphicFramePr>
        <p:xfrm>
          <a:off x="90538" y="1766288"/>
          <a:ext cx="3000000" cy="3000000"/>
        </p:xfrm>
        <a:graphic>
          <a:graphicData uri="http://schemas.openxmlformats.org/drawingml/2006/table">
            <a:tbl>
              <a:tblPr>
                <a:noFill/>
                <a:tableStyleId>{43BCD029-0BC6-434C-B91B-DC90D2DB970E}</a:tableStyleId>
              </a:tblPr>
              <a:tblGrid>
                <a:gridCol w="919650"/>
                <a:gridCol w="866450"/>
              </a:tblGrid>
              <a:tr h="548525">
                <a:tc>
                  <a:txBody>
                    <a:bodyPr/>
                    <a:lstStyle/>
                    <a:p>
                      <a:pPr indent="0" lvl="0" marL="0" marR="0" rtl="0" algn="ctr">
                        <a:lnSpc>
                          <a:spcPct val="100000"/>
                        </a:lnSpc>
                        <a:spcBef>
                          <a:spcPts val="0"/>
                        </a:spcBef>
                        <a:spcAft>
                          <a:spcPts val="0"/>
                        </a:spcAft>
                        <a:buClr>
                          <a:srgbClr val="000000"/>
                        </a:buClr>
                        <a:buSzPts val="1000"/>
                        <a:buFont typeface="Arial"/>
                        <a:buNone/>
                      </a:pPr>
                      <a:r>
                        <a:rPr lang="es-419" sz="1000" u="none" cap="none" strike="noStrike">
                          <a:solidFill>
                            <a:schemeClr val="dk1"/>
                          </a:solidFill>
                        </a:rPr>
                        <a:t>Range (log</a:t>
                      </a:r>
                      <a:r>
                        <a:rPr i="1" lang="es-419" sz="1000" u="none" cap="none" strike="noStrike">
                          <a:solidFill>
                            <a:schemeClr val="dk1"/>
                          </a:solidFill>
                        </a:rPr>
                        <a:t>M</a:t>
                      </a:r>
                      <a:r>
                        <a:rPr lang="es-419" sz="1000" u="none" cap="none" strike="noStrike">
                          <a:solidFill>
                            <a:schemeClr val="dk1"/>
                          </a:solidFill>
                        </a:rPr>
                        <a:t>⋆[M</a:t>
                      </a:r>
                      <a:r>
                        <a:rPr baseline="-25000" lang="es-419" sz="1000" u="none" cap="none" strike="noStrike">
                          <a:solidFill>
                            <a:schemeClr val="dk1"/>
                          </a:solidFill>
                        </a:rPr>
                        <a:t>☉</a:t>
                      </a:r>
                      <a:r>
                        <a:rPr lang="es-419" sz="1000" u="none" cap="none" strike="noStrike">
                          <a:solidFill>
                            <a:schemeClr val="dk1"/>
                          </a:solidFill>
                        </a:rPr>
                        <a:t>])</a:t>
                      </a:r>
                      <a:endParaRPr sz="1000" u="none" cap="none" strike="noStrike">
                        <a:solidFill>
                          <a:schemeClr val="dk1"/>
                        </a:solidFill>
                      </a:endParaRPr>
                    </a:p>
                  </a:txBody>
                  <a:tcPr marT="91425" marB="91425" marR="91425" marL="91425">
                    <a:solidFill>
                      <a:schemeClr val="lt1"/>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s-419" sz="1000" u="none" cap="none" strike="noStrike">
                          <a:solidFill>
                            <a:schemeClr val="dk1"/>
                          </a:solidFill>
                        </a:rPr>
                        <a:t>Nº Galaxies</a:t>
                      </a:r>
                      <a:endParaRPr sz="1000" u="none" cap="none" strike="noStrike">
                        <a:solidFill>
                          <a:schemeClr val="dk1"/>
                        </a:solidFill>
                      </a:endParaRPr>
                    </a:p>
                  </a:txBody>
                  <a:tcPr marT="91425" marB="91425" marR="91425" marL="91425">
                    <a:solidFill>
                      <a:schemeClr val="lt1"/>
                    </a:solidFill>
                  </a:tcPr>
                </a:tc>
              </a:tr>
              <a:tr h="376600">
                <a:tc>
                  <a:txBody>
                    <a:bodyPr/>
                    <a:lstStyle/>
                    <a:p>
                      <a:pPr indent="0" lvl="0" marL="0" marR="0" rtl="0" algn="ctr">
                        <a:lnSpc>
                          <a:spcPct val="100000"/>
                        </a:lnSpc>
                        <a:spcBef>
                          <a:spcPts val="0"/>
                        </a:spcBef>
                        <a:spcAft>
                          <a:spcPts val="0"/>
                        </a:spcAft>
                        <a:buClr>
                          <a:srgbClr val="000000"/>
                        </a:buClr>
                        <a:buSzPts val="1400"/>
                        <a:buFont typeface="Arial"/>
                        <a:buNone/>
                      </a:pPr>
                      <a:r>
                        <a:rPr lang="es-419" sz="1400" u="none" cap="none" strike="noStrike">
                          <a:solidFill>
                            <a:schemeClr val="dk1"/>
                          </a:solidFill>
                        </a:rPr>
                        <a:t>7.7 - 8</a:t>
                      </a:r>
                      <a:endParaRPr sz="1400" u="none" cap="none" strike="noStrike">
                        <a:solidFill>
                          <a:schemeClr val="dk1"/>
                        </a:solidFill>
                      </a:endParaRPr>
                    </a:p>
                  </a:txBody>
                  <a:tcPr marT="91425" marB="91425" marR="91425" marL="91425">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s-419" sz="1400" u="none" cap="none" strike="noStrike">
                          <a:solidFill>
                            <a:schemeClr val="dk1"/>
                          </a:solidFill>
                        </a:rPr>
                        <a:t>1.663</a:t>
                      </a:r>
                      <a:endParaRPr sz="1400" u="none" cap="none" strike="noStrike">
                        <a:solidFill>
                          <a:schemeClr val="dk1"/>
                        </a:solidFill>
                      </a:endParaRPr>
                    </a:p>
                  </a:txBody>
                  <a:tcPr marT="91425" marB="91425" marR="91425" marL="91425">
                    <a:solidFill>
                      <a:schemeClr val="lt1"/>
                    </a:solidFill>
                  </a:tcPr>
                </a:tc>
              </a:tr>
              <a:tr h="376600">
                <a:tc>
                  <a:txBody>
                    <a:bodyPr/>
                    <a:lstStyle/>
                    <a:p>
                      <a:pPr indent="0" lvl="0" marL="0" marR="0" rtl="0" algn="ctr">
                        <a:lnSpc>
                          <a:spcPct val="100000"/>
                        </a:lnSpc>
                        <a:spcBef>
                          <a:spcPts val="0"/>
                        </a:spcBef>
                        <a:spcAft>
                          <a:spcPts val="0"/>
                        </a:spcAft>
                        <a:buClr>
                          <a:srgbClr val="000000"/>
                        </a:buClr>
                        <a:buSzPts val="1400"/>
                        <a:buFont typeface="Arial"/>
                        <a:buNone/>
                      </a:pPr>
                      <a:r>
                        <a:rPr lang="es-419" sz="1400" u="none" cap="none" strike="noStrike">
                          <a:solidFill>
                            <a:schemeClr val="dk1"/>
                          </a:solidFill>
                        </a:rPr>
                        <a:t>8.5 - 8.8</a:t>
                      </a:r>
                      <a:endParaRPr sz="1400" u="none" cap="none" strike="noStrike">
                        <a:solidFill>
                          <a:schemeClr val="dk1"/>
                        </a:solidFill>
                      </a:endParaRPr>
                    </a:p>
                  </a:txBody>
                  <a:tcPr marT="91425" marB="91425" marR="91425" marL="91425">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s-419" sz="1400" u="none" cap="none" strike="noStrike">
                          <a:solidFill>
                            <a:schemeClr val="dk1"/>
                          </a:solidFill>
                        </a:rPr>
                        <a:t>1.162</a:t>
                      </a:r>
                      <a:endParaRPr sz="1400" u="none" cap="none" strike="noStrike">
                        <a:solidFill>
                          <a:schemeClr val="dk1"/>
                        </a:solidFill>
                      </a:endParaRPr>
                    </a:p>
                  </a:txBody>
                  <a:tcPr marT="91425" marB="91425" marR="91425" marL="91425">
                    <a:solidFill>
                      <a:schemeClr val="lt1"/>
                    </a:solidFill>
                  </a:tcPr>
                </a:tc>
              </a:tr>
              <a:tr h="376600">
                <a:tc>
                  <a:txBody>
                    <a:bodyPr/>
                    <a:lstStyle/>
                    <a:p>
                      <a:pPr indent="0" lvl="0" marL="0" marR="0" rtl="0" algn="ctr">
                        <a:lnSpc>
                          <a:spcPct val="100000"/>
                        </a:lnSpc>
                        <a:spcBef>
                          <a:spcPts val="0"/>
                        </a:spcBef>
                        <a:spcAft>
                          <a:spcPts val="0"/>
                        </a:spcAft>
                        <a:buClr>
                          <a:srgbClr val="000000"/>
                        </a:buClr>
                        <a:buSzPts val="1400"/>
                        <a:buFont typeface="Arial"/>
                        <a:buNone/>
                      </a:pPr>
                      <a:r>
                        <a:rPr lang="es-419" sz="1400" u="none" cap="none" strike="noStrike">
                          <a:solidFill>
                            <a:schemeClr val="dk1"/>
                          </a:solidFill>
                        </a:rPr>
                        <a:t>9.2 - 9.5</a:t>
                      </a:r>
                      <a:endParaRPr sz="1400" u="none" cap="none" strike="noStrike">
                        <a:solidFill>
                          <a:schemeClr val="dk1"/>
                        </a:solidFill>
                      </a:endParaRPr>
                    </a:p>
                  </a:txBody>
                  <a:tcPr marT="91425" marB="91425" marR="91425" marL="91425">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s-419" sz="1400" u="none" cap="none" strike="noStrike">
                          <a:solidFill>
                            <a:schemeClr val="dk1"/>
                          </a:solidFill>
                        </a:rPr>
                        <a:t>675</a:t>
                      </a:r>
                      <a:endParaRPr sz="1400" u="none" cap="none" strike="noStrike">
                        <a:solidFill>
                          <a:schemeClr val="dk1"/>
                        </a:solidFill>
                      </a:endParaRPr>
                    </a:p>
                  </a:txBody>
                  <a:tcPr marT="91425" marB="91425" marR="91425" marL="91425">
                    <a:solidFill>
                      <a:schemeClr val="lt1"/>
                    </a:solidFill>
                  </a:tcPr>
                </a:tc>
              </a:tr>
              <a:tr h="376600">
                <a:tc>
                  <a:txBody>
                    <a:bodyPr/>
                    <a:lstStyle/>
                    <a:p>
                      <a:pPr indent="0" lvl="0" marL="0" marR="0" rtl="0" algn="ctr">
                        <a:lnSpc>
                          <a:spcPct val="100000"/>
                        </a:lnSpc>
                        <a:spcBef>
                          <a:spcPts val="0"/>
                        </a:spcBef>
                        <a:spcAft>
                          <a:spcPts val="0"/>
                        </a:spcAft>
                        <a:buClr>
                          <a:srgbClr val="000000"/>
                        </a:buClr>
                        <a:buSzPts val="1400"/>
                        <a:buFont typeface="Arial"/>
                        <a:buNone/>
                      </a:pPr>
                      <a:r>
                        <a:rPr lang="es-419" sz="1400" u="none" cap="none" strike="noStrike">
                          <a:solidFill>
                            <a:schemeClr val="dk1"/>
                          </a:solidFill>
                        </a:rPr>
                        <a:t>9.7 - 10</a:t>
                      </a:r>
                      <a:endParaRPr sz="1400" u="none" cap="none" strike="noStrike">
                        <a:solidFill>
                          <a:schemeClr val="dk1"/>
                        </a:solidFill>
                      </a:endParaRPr>
                    </a:p>
                  </a:txBody>
                  <a:tcPr marT="91425" marB="91425" marR="91425" marL="91425">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s-419" sz="1400" u="none" cap="none" strike="noStrike">
                          <a:solidFill>
                            <a:schemeClr val="dk1"/>
                          </a:solidFill>
                        </a:rPr>
                        <a:t>394</a:t>
                      </a:r>
                      <a:endParaRPr sz="1400" u="none" cap="none" strike="noStrike">
                        <a:solidFill>
                          <a:schemeClr val="dk1"/>
                        </a:solidFill>
                      </a:endParaRPr>
                    </a:p>
                  </a:txBody>
                  <a:tcPr marT="91425" marB="91425" marR="91425" marL="91425">
                    <a:solidFill>
                      <a:schemeClr val="lt1"/>
                    </a:solidFill>
                  </a:tcPr>
                </a:tc>
              </a:tr>
            </a:tbl>
          </a:graphicData>
        </a:graphic>
      </p:graphicFrame>
      <p:sp>
        <p:nvSpPr>
          <p:cNvPr id="135" name="Google Shape;135;p8"/>
          <p:cNvSpPr txBox="1"/>
          <p:nvPr/>
        </p:nvSpPr>
        <p:spPr>
          <a:xfrm>
            <a:off x="335425" y="963925"/>
            <a:ext cx="1380000" cy="572700"/>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s-419" sz="2500" u="none" cap="none" strike="noStrike">
                <a:solidFill>
                  <a:schemeClr val="dk1"/>
                </a:solidFill>
                <a:latin typeface="Arial"/>
                <a:ea typeface="Arial"/>
                <a:cs typeface="Arial"/>
                <a:sym typeface="Arial"/>
              </a:rPr>
              <a:t>α = 0.45</a:t>
            </a:r>
            <a:endParaRPr b="0" i="0" sz="2500" u="none" cap="none" strike="noStrike">
              <a:solidFill>
                <a:schemeClr val="dk1"/>
              </a:solidFill>
              <a:latin typeface="Arial"/>
              <a:ea typeface="Arial"/>
              <a:cs typeface="Arial"/>
              <a:sym typeface="Arial"/>
            </a:endParaRPr>
          </a:p>
        </p:txBody>
      </p:sp>
      <p:pic>
        <p:nvPicPr>
          <p:cNvPr id="136" name="Google Shape;136;p8"/>
          <p:cNvPicPr preferRelativeResize="0"/>
          <p:nvPr/>
        </p:nvPicPr>
        <p:blipFill rotWithShape="1">
          <a:blip r:embed="rId4">
            <a:alphaModFix/>
          </a:blip>
          <a:srcRect b="0" l="0" r="0" t="0"/>
          <a:stretch/>
        </p:blipFill>
        <p:spPr>
          <a:xfrm>
            <a:off x="2043696" y="744525"/>
            <a:ext cx="3393793" cy="2036276"/>
          </a:xfrm>
          <a:prstGeom prst="rect">
            <a:avLst/>
          </a:prstGeom>
          <a:noFill/>
          <a:ln>
            <a:noFill/>
          </a:ln>
        </p:spPr>
      </p:pic>
      <p:pic>
        <p:nvPicPr>
          <p:cNvPr id="137" name="Google Shape;137;p8"/>
          <p:cNvPicPr preferRelativeResize="0"/>
          <p:nvPr/>
        </p:nvPicPr>
        <p:blipFill rotWithShape="1">
          <a:blip r:embed="rId5">
            <a:alphaModFix/>
          </a:blip>
          <a:srcRect b="0" l="0" r="0" t="0"/>
          <a:stretch/>
        </p:blipFill>
        <p:spPr>
          <a:xfrm>
            <a:off x="5554719" y="735225"/>
            <a:ext cx="3424818" cy="2054900"/>
          </a:xfrm>
          <a:prstGeom prst="rect">
            <a:avLst/>
          </a:prstGeom>
          <a:noFill/>
          <a:ln>
            <a:noFill/>
          </a:ln>
        </p:spPr>
      </p:pic>
      <p:pic>
        <p:nvPicPr>
          <p:cNvPr id="138" name="Google Shape;138;p8"/>
          <p:cNvPicPr preferRelativeResize="0"/>
          <p:nvPr/>
        </p:nvPicPr>
        <p:blipFill rotWithShape="1">
          <a:blip r:embed="rId6">
            <a:alphaModFix/>
          </a:blip>
          <a:srcRect b="0" l="0" r="0" t="0"/>
          <a:stretch/>
        </p:blipFill>
        <p:spPr>
          <a:xfrm>
            <a:off x="2043700" y="2842605"/>
            <a:ext cx="3393800" cy="2036270"/>
          </a:xfrm>
          <a:prstGeom prst="rect">
            <a:avLst/>
          </a:prstGeom>
          <a:noFill/>
          <a:ln>
            <a:noFill/>
          </a:ln>
        </p:spPr>
      </p:pic>
      <p:pic>
        <p:nvPicPr>
          <p:cNvPr id="139" name="Google Shape;139;p8"/>
          <p:cNvPicPr preferRelativeResize="0"/>
          <p:nvPr/>
        </p:nvPicPr>
        <p:blipFill rotWithShape="1">
          <a:blip r:embed="rId7">
            <a:alphaModFix/>
          </a:blip>
          <a:srcRect b="0" l="0" r="0" t="0"/>
          <a:stretch/>
        </p:blipFill>
        <p:spPr>
          <a:xfrm>
            <a:off x="5554700" y="2842624"/>
            <a:ext cx="3424850" cy="20549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9"/>
          <p:cNvSpPr/>
          <p:nvPr/>
        </p:nvSpPr>
        <p:spPr>
          <a:xfrm>
            <a:off x="0" y="0"/>
            <a:ext cx="9418320" cy="5482971"/>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145" name="Google Shape;145;p9"/>
          <p:cNvSpPr txBox="1"/>
          <p:nvPr>
            <p:ph type="title"/>
          </p:nvPr>
        </p:nvSpPr>
        <p:spPr>
          <a:xfrm>
            <a:off x="3543050" y="0"/>
            <a:ext cx="25971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s-419" sz="3020">
                <a:solidFill>
                  <a:schemeClr val="lt1"/>
                </a:solidFill>
              </a:rPr>
              <a:t>Correlations</a:t>
            </a:r>
            <a:endParaRPr sz="3020">
              <a:solidFill>
                <a:schemeClr val="lt1"/>
              </a:solidFill>
            </a:endParaRPr>
          </a:p>
        </p:txBody>
      </p:sp>
      <p:sp>
        <p:nvSpPr>
          <p:cNvPr id="146" name="Google Shape;146;p9"/>
          <p:cNvSpPr txBox="1"/>
          <p:nvPr>
            <p:ph idx="1" type="body"/>
          </p:nvPr>
        </p:nvSpPr>
        <p:spPr>
          <a:xfrm>
            <a:off x="256650" y="1155250"/>
            <a:ext cx="2405700" cy="3469800"/>
          </a:xfrm>
          <a:prstGeom prst="rect">
            <a:avLst/>
          </a:prstGeom>
          <a:noFill/>
          <a:ln>
            <a:noFill/>
          </a:ln>
        </p:spPr>
        <p:txBody>
          <a:bodyPr anchorCtr="0" anchor="t" bIns="91425" lIns="91425" spcFirstLastPara="1" rIns="91425" wrap="square" tIns="91425">
            <a:noAutofit/>
          </a:bodyPr>
          <a:lstStyle/>
          <a:p>
            <a:pPr indent="-319405" lvl="0" marL="457200" rtl="0" algn="l">
              <a:lnSpc>
                <a:spcPct val="95000"/>
              </a:lnSpc>
              <a:spcBef>
                <a:spcPts val="0"/>
              </a:spcBef>
              <a:spcAft>
                <a:spcPts val="0"/>
              </a:spcAft>
              <a:buClr>
                <a:schemeClr val="lt1"/>
              </a:buClr>
              <a:buSzPts val="1430"/>
              <a:buChar char="●"/>
            </a:pPr>
            <a:r>
              <a:rPr lang="es-419" sz="1430">
                <a:solidFill>
                  <a:schemeClr val="lt1"/>
                </a:solidFill>
              </a:rPr>
              <a:t>Correlation between mass-metallicity and SFE-metallicity</a:t>
            </a:r>
            <a:endParaRPr sz="1430">
              <a:solidFill>
                <a:schemeClr val="lt1"/>
              </a:solidFill>
            </a:endParaRPr>
          </a:p>
          <a:p>
            <a:pPr indent="0" lvl="0" marL="0" rtl="0" algn="l">
              <a:lnSpc>
                <a:spcPct val="95000"/>
              </a:lnSpc>
              <a:spcBef>
                <a:spcPts val="1200"/>
              </a:spcBef>
              <a:spcAft>
                <a:spcPts val="0"/>
              </a:spcAft>
              <a:buSzPts val="935"/>
              <a:buNone/>
            </a:pPr>
            <a:r>
              <a:t/>
            </a:r>
            <a:endParaRPr sz="1430">
              <a:solidFill>
                <a:schemeClr val="lt1"/>
              </a:solidFill>
            </a:endParaRPr>
          </a:p>
          <a:p>
            <a:pPr indent="0" lvl="0" marL="0" rtl="0" algn="l">
              <a:lnSpc>
                <a:spcPct val="95000"/>
              </a:lnSpc>
              <a:spcBef>
                <a:spcPts val="1200"/>
              </a:spcBef>
              <a:spcAft>
                <a:spcPts val="1200"/>
              </a:spcAft>
              <a:buSzPts val="935"/>
              <a:buNone/>
            </a:pPr>
            <a:r>
              <a:t/>
            </a:r>
            <a:endParaRPr sz="1430">
              <a:solidFill>
                <a:schemeClr val="lt1"/>
              </a:solidFill>
            </a:endParaRPr>
          </a:p>
        </p:txBody>
      </p:sp>
      <p:sp>
        <p:nvSpPr>
          <p:cNvPr id="147" name="Google Shape;147;p9"/>
          <p:cNvSpPr txBox="1"/>
          <p:nvPr/>
        </p:nvSpPr>
        <p:spPr>
          <a:xfrm>
            <a:off x="564525" y="4174750"/>
            <a:ext cx="1728600" cy="45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148" name="Google Shape;148;p9"/>
          <p:cNvPicPr preferRelativeResize="0"/>
          <p:nvPr/>
        </p:nvPicPr>
        <p:blipFill rotWithShape="1">
          <a:blip r:embed="rId4">
            <a:alphaModFix/>
          </a:blip>
          <a:srcRect b="0" l="0" r="0" t="0"/>
          <a:stretch/>
        </p:blipFill>
        <p:spPr>
          <a:xfrm>
            <a:off x="3029837" y="2804325"/>
            <a:ext cx="2921675" cy="2191250"/>
          </a:xfrm>
          <a:prstGeom prst="rect">
            <a:avLst/>
          </a:prstGeom>
          <a:noFill/>
          <a:ln>
            <a:noFill/>
          </a:ln>
        </p:spPr>
      </p:pic>
      <p:pic>
        <p:nvPicPr>
          <p:cNvPr id="149" name="Google Shape;149;p9"/>
          <p:cNvPicPr preferRelativeResize="0"/>
          <p:nvPr/>
        </p:nvPicPr>
        <p:blipFill rotWithShape="1">
          <a:blip r:embed="rId5">
            <a:alphaModFix/>
          </a:blip>
          <a:srcRect b="0" l="0" r="0" t="0"/>
          <a:stretch/>
        </p:blipFill>
        <p:spPr>
          <a:xfrm>
            <a:off x="3029825" y="572725"/>
            <a:ext cx="2921675" cy="2191249"/>
          </a:xfrm>
          <a:prstGeom prst="rect">
            <a:avLst/>
          </a:prstGeom>
          <a:noFill/>
          <a:ln>
            <a:noFill/>
          </a:ln>
        </p:spPr>
      </p:pic>
      <p:pic>
        <p:nvPicPr>
          <p:cNvPr id="150" name="Google Shape;150;p9"/>
          <p:cNvPicPr preferRelativeResize="0"/>
          <p:nvPr/>
        </p:nvPicPr>
        <p:blipFill rotWithShape="1">
          <a:blip r:embed="rId6">
            <a:alphaModFix/>
          </a:blip>
          <a:srcRect b="0" l="0" r="0" t="0"/>
          <a:stretch/>
        </p:blipFill>
        <p:spPr>
          <a:xfrm>
            <a:off x="5991200" y="572700"/>
            <a:ext cx="2921725" cy="2191294"/>
          </a:xfrm>
          <a:prstGeom prst="rect">
            <a:avLst/>
          </a:prstGeom>
          <a:noFill/>
          <a:ln>
            <a:noFill/>
          </a:ln>
        </p:spPr>
      </p:pic>
      <p:pic>
        <p:nvPicPr>
          <p:cNvPr id="151" name="Google Shape;151;p9"/>
          <p:cNvPicPr preferRelativeResize="0"/>
          <p:nvPr/>
        </p:nvPicPr>
        <p:blipFill rotWithShape="1">
          <a:blip r:embed="rId7">
            <a:alphaModFix/>
          </a:blip>
          <a:srcRect b="0" l="0" r="0" t="0"/>
          <a:stretch/>
        </p:blipFill>
        <p:spPr>
          <a:xfrm>
            <a:off x="5991200" y="2804306"/>
            <a:ext cx="2921725" cy="219129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0"/>
          <p:cNvSpPr/>
          <p:nvPr/>
        </p:nvSpPr>
        <p:spPr>
          <a:xfrm>
            <a:off x="0" y="0"/>
            <a:ext cx="18288000" cy="12184380"/>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157" name="Google Shape;157;p10"/>
          <p:cNvSpPr txBox="1"/>
          <p:nvPr>
            <p:ph type="title"/>
          </p:nvPr>
        </p:nvSpPr>
        <p:spPr>
          <a:xfrm>
            <a:off x="311700" y="33155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lang="es-419" sz="4020">
                <a:solidFill>
                  <a:schemeClr val="lt1"/>
                </a:solidFill>
              </a:rPr>
              <a:t>Comparison with LMC-type Galaxies</a:t>
            </a:r>
            <a:endParaRPr sz="4020">
              <a:solidFill>
                <a:schemeClr val="lt1"/>
              </a:solidFill>
            </a:endParaRPr>
          </a:p>
          <a:p>
            <a:pPr indent="0" lvl="0" marL="0" rtl="0" algn="l">
              <a:lnSpc>
                <a:spcPct val="115000"/>
              </a:lnSpc>
              <a:spcBef>
                <a:spcPts val="0"/>
              </a:spcBef>
              <a:spcAft>
                <a:spcPts val="0"/>
              </a:spcAft>
              <a:buClr>
                <a:schemeClr val="dk1"/>
              </a:buClr>
              <a:buSzPts val="990"/>
              <a:buFont typeface="Arial"/>
              <a:buNone/>
            </a:pPr>
            <a:r>
              <a:t/>
            </a:r>
            <a:endParaRPr sz="4020">
              <a:solidFill>
                <a:schemeClr val="lt1"/>
              </a:solidFill>
            </a:endParaRPr>
          </a:p>
          <a:p>
            <a:pPr indent="0" lvl="0" marL="0" rtl="0" algn="ctr">
              <a:lnSpc>
                <a:spcPct val="100000"/>
              </a:lnSpc>
              <a:spcBef>
                <a:spcPts val="0"/>
              </a:spcBef>
              <a:spcAft>
                <a:spcPts val="0"/>
              </a:spcAft>
              <a:buSzPts val="990"/>
              <a:buNone/>
            </a:pPr>
            <a:r>
              <a:t/>
            </a:r>
            <a:endParaRPr sz="3520">
              <a:solidFill>
                <a:schemeClr val="lt1"/>
              </a:solidFill>
            </a:endParaRPr>
          </a:p>
        </p:txBody>
      </p:sp>
      <p:pic>
        <p:nvPicPr>
          <p:cNvPr id="158" name="Google Shape;158;p10"/>
          <p:cNvPicPr preferRelativeResize="0"/>
          <p:nvPr/>
        </p:nvPicPr>
        <p:blipFill rotWithShape="1">
          <a:blip r:embed="rId4">
            <a:alphaModFix/>
          </a:blip>
          <a:srcRect b="0" l="0" r="0" t="0"/>
          <a:stretch/>
        </p:blipFill>
        <p:spPr>
          <a:xfrm>
            <a:off x="3807125" y="1318250"/>
            <a:ext cx="5025175" cy="1615225"/>
          </a:xfrm>
          <a:prstGeom prst="rect">
            <a:avLst/>
          </a:prstGeom>
          <a:noFill/>
          <a:ln>
            <a:noFill/>
          </a:ln>
        </p:spPr>
      </p:pic>
      <p:pic>
        <p:nvPicPr>
          <p:cNvPr id="159" name="Google Shape;159;p10"/>
          <p:cNvPicPr preferRelativeResize="0"/>
          <p:nvPr/>
        </p:nvPicPr>
        <p:blipFill rotWithShape="1">
          <a:blip r:embed="rId5">
            <a:alphaModFix/>
          </a:blip>
          <a:srcRect b="0" l="0" r="0" t="0"/>
          <a:stretch/>
        </p:blipFill>
        <p:spPr>
          <a:xfrm>
            <a:off x="3807125" y="3209448"/>
            <a:ext cx="5025175" cy="1615252"/>
          </a:xfrm>
          <a:prstGeom prst="rect">
            <a:avLst/>
          </a:prstGeom>
          <a:noFill/>
          <a:ln>
            <a:noFill/>
          </a:ln>
        </p:spPr>
      </p:pic>
      <p:sp>
        <p:nvSpPr>
          <p:cNvPr id="160" name="Google Shape;160;p10"/>
          <p:cNvSpPr txBox="1"/>
          <p:nvPr/>
        </p:nvSpPr>
        <p:spPr>
          <a:xfrm>
            <a:off x="-119900" y="1593400"/>
            <a:ext cx="4060200" cy="23520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0"/>
              </a:spcBef>
              <a:spcAft>
                <a:spcPts val="0"/>
              </a:spcAft>
              <a:buClr>
                <a:schemeClr val="lt1"/>
              </a:buClr>
              <a:buSzPts val="1800"/>
              <a:buFont typeface="Arial"/>
              <a:buChar char="●"/>
            </a:pPr>
            <a:r>
              <a:rPr b="0" i="0" lang="es-419" sz="1800" u="none" cap="none" strike="noStrike">
                <a:solidFill>
                  <a:schemeClr val="lt1"/>
                </a:solidFill>
                <a:latin typeface="Arial"/>
                <a:ea typeface="Arial"/>
                <a:cs typeface="Arial"/>
                <a:sym typeface="Arial"/>
              </a:rPr>
              <a:t>10</a:t>
            </a:r>
            <a:r>
              <a:rPr b="0" baseline="30000" i="0" lang="es-419" sz="1800" u="none" cap="none" strike="noStrike">
                <a:solidFill>
                  <a:schemeClr val="lt1"/>
                </a:solidFill>
                <a:latin typeface="Arial"/>
                <a:ea typeface="Arial"/>
                <a:cs typeface="Arial"/>
                <a:sym typeface="Arial"/>
              </a:rPr>
              <a:t>9.2</a:t>
            </a:r>
            <a:r>
              <a:rPr b="0" i="0" lang="es-419" sz="1800" u="none" cap="none" strike="noStrike">
                <a:solidFill>
                  <a:schemeClr val="lt1"/>
                </a:solidFill>
                <a:latin typeface="Arial"/>
                <a:ea typeface="Arial"/>
                <a:cs typeface="Arial"/>
                <a:sym typeface="Arial"/>
              </a:rPr>
              <a:t> M</a:t>
            </a:r>
            <a:r>
              <a:rPr b="0" baseline="-25000" i="0" lang="es-419" sz="1800" u="none" cap="none" strike="noStrike">
                <a:solidFill>
                  <a:schemeClr val="lt1"/>
                </a:solidFill>
                <a:latin typeface="Arial"/>
                <a:ea typeface="Arial"/>
                <a:cs typeface="Arial"/>
                <a:sym typeface="Arial"/>
              </a:rPr>
              <a:t>☉</a:t>
            </a:r>
            <a:r>
              <a:rPr b="0" i="0" lang="es-419" sz="1800" u="none" cap="none" strike="noStrike">
                <a:solidFill>
                  <a:schemeClr val="lt1"/>
                </a:solidFill>
                <a:latin typeface="Arial"/>
                <a:ea typeface="Arial"/>
                <a:cs typeface="Arial"/>
                <a:sym typeface="Arial"/>
              </a:rPr>
              <a:t>&lt; Stellar Mass &lt; 10</a:t>
            </a:r>
            <a:r>
              <a:rPr b="0" baseline="30000" i="0" lang="es-419" sz="1800" u="none" cap="none" strike="noStrike">
                <a:solidFill>
                  <a:schemeClr val="lt1"/>
                </a:solidFill>
                <a:latin typeface="Arial"/>
                <a:ea typeface="Arial"/>
                <a:cs typeface="Arial"/>
                <a:sym typeface="Arial"/>
              </a:rPr>
              <a:t>9.6 </a:t>
            </a:r>
            <a:r>
              <a:rPr b="0" i="0" lang="es-419" sz="1800" u="none" cap="none" strike="noStrike">
                <a:solidFill>
                  <a:schemeClr val="lt1"/>
                </a:solidFill>
                <a:latin typeface="Arial"/>
                <a:ea typeface="Arial"/>
                <a:cs typeface="Arial"/>
                <a:sym typeface="Arial"/>
              </a:rPr>
              <a:t>M</a:t>
            </a:r>
            <a:r>
              <a:rPr b="0" baseline="-25000" i="0" lang="es-419" sz="1800" u="none" cap="none" strike="noStrike">
                <a:solidFill>
                  <a:schemeClr val="lt1"/>
                </a:solidFill>
                <a:latin typeface="Arial"/>
                <a:ea typeface="Arial"/>
                <a:cs typeface="Arial"/>
                <a:sym typeface="Arial"/>
              </a:rPr>
              <a:t>☉</a:t>
            </a:r>
            <a:endParaRPr b="0" baseline="-25000" i="0" sz="1800" u="none" cap="none" strike="noStrike">
              <a:solidFill>
                <a:schemeClr val="lt1"/>
              </a:solidFill>
              <a:latin typeface="Arial"/>
              <a:ea typeface="Arial"/>
              <a:cs typeface="Arial"/>
              <a:sym typeface="Arial"/>
            </a:endParaRPr>
          </a:p>
          <a:p>
            <a:pPr indent="0" lvl="0" marL="457200" marR="0" rtl="0" algn="l">
              <a:lnSpc>
                <a:spcPct val="115000"/>
              </a:lnSpc>
              <a:spcBef>
                <a:spcPts val="1200"/>
              </a:spcBef>
              <a:spcAft>
                <a:spcPts val="0"/>
              </a:spcAft>
              <a:buClr>
                <a:srgbClr val="000000"/>
              </a:buClr>
              <a:buSzPts val="1800"/>
              <a:buFont typeface="Arial"/>
              <a:buNone/>
            </a:pPr>
            <a:r>
              <a:rPr b="0" i="0" lang="es-419" sz="1800" u="none" cap="none" strike="noStrike">
                <a:solidFill>
                  <a:schemeClr val="lt1"/>
                </a:solidFill>
                <a:latin typeface="Arial"/>
                <a:ea typeface="Arial"/>
                <a:cs typeface="Arial"/>
                <a:sym typeface="Arial"/>
              </a:rPr>
              <a:t> </a:t>
            </a:r>
            <a:endParaRPr b="0" i="0" sz="1800" u="none" cap="none" strike="noStrike">
              <a:solidFill>
                <a:schemeClr val="lt1"/>
              </a:solidFill>
              <a:latin typeface="Arial"/>
              <a:ea typeface="Arial"/>
              <a:cs typeface="Arial"/>
              <a:sym typeface="Arial"/>
            </a:endParaRPr>
          </a:p>
          <a:p>
            <a:pPr indent="-342900" lvl="0" marL="457200" marR="0" rtl="0" algn="l">
              <a:lnSpc>
                <a:spcPct val="115000"/>
              </a:lnSpc>
              <a:spcBef>
                <a:spcPts val="1200"/>
              </a:spcBef>
              <a:spcAft>
                <a:spcPts val="0"/>
              </a:spcAft>
              <a:buClr>
                <a:schemeClr val="lt1"/>
              </a:buClr>
              <a:buSzPts val="1800"/>
              <a:buFont typeface="Arial"/>
              <a:buChar char="●"/>
            </a:pPr>
            <a:r>
              <a:rPr b="0" i="0" lang="es-419" sz="1800" u="none" cap="none" strike="noStrike">
                <a:solidFill>
                  <a:schemeClr val="lt1"/>
                </a:solidFill>
                <a:latin typeface="Arial"/>
                <a:ea typeface="Arial"/>
                <a:cs typeface="Arial"/>
                <a:sym typeface="Arial"/>
              </a:rPr>
              <a:t>0.005 Gyr</a:t>
            </a:r>
            <a:r>
              <a:rPr b="0" baseline="30000" i="0" lang="es-419" sz="1800" u="none" cap="none" strike="noStrike">
                <a:solidFill>
                  <a:schemeClr val="lt1"/>
                </a:solidFill>
                <a:latin typeface="Arial"/>
                <a:ea typeface="Arial"/>
                <a:cs typeface="Arial"/>
                <a:sym typeface="Arial"/>
              </a:rPr>
              <a:t>-1</a:t>
            </a:r>
            <a:r>
              <a:rPr b="0" i="0" lang="es-419" sz="1800" u="none" cap="none" strike="noStrike">
                <a:solidFill>
                  <a:schemeClr val="lt1"/>
                </a:solidFill>
                <a:latin typeface="Arial"/>
                <a:ea typeface="Arial"/>
                <a:cs typeface="Arial"/>
                <a:sym typeface="Arial"/>
              </a:rPr>
              <a:t> &lt; SFE &lt; 0.015 Gyr</a:t>
            </a:r>
            <a:r>
              <a:rPr b="0" baseline="30000" i="0" lang="es-419" sz="1800" u="none" cap="none" strike="noStrike">
                <a:solidFill>
                  <a:schemeClr val="lt1"/>
                </a:solidFill>
                <a:latin typeface="Arial"/>
                <a:ea typeface="Arial"/>
                <a:cs typeface="Arial"/>
                <a:sym typeface="Arial"/>
              </a:rPr>
              <a:t>-1</a:t>
            </a:r>
            <a:r>
              <a:rPr b="0" i="0" lang="es-419" sz="1800" u="none" cap="none" strike="noStrike">
                <a:solidFill>
                  <a:schemeClr val="lt1"/>
                </a:solidFill>
                <a:latin typeface="Arial"/>
                <a:ea typeface="Arial"/>
                <a:cs typeface="Arial"/>
                <a:sym typeface="Arial"/>
              </a:rPr>
              <a:t> </a:t>
            </a:r>
            <a:endParaRPr b="0" i="0" sz="1800" u="none" cap="none" strike="noStrike">
              <a:solidFill>
                <a:schemeClr val="lt1"/>
              </a:solidFill>
              <a:latin typeface="Arial"/>
              <a:ea typeface="Arial"/>
              <a:cs typeface="Arial"/>
              <a:sym typeface="Arial"/>
            </a:endParaRPr>
          </a:p>
          <a:p>
            <a:pPr indent="0" lvl="0" marL="45720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a:p>
            <a:pPr indent="-342900" lvl="0" marL="457200" marR="0" rtl="0" algn="l">
              <a:lnSpc>
                <a:spcPct val="115000"/>
              </a:lnSpc>
              <a:spcBef>
                <a:spcPts val="1200"/>
              </a:spcBef>
              <a:spcAft>
                <a:spcPts val="0"/>
              </a:spcAft>
              <a:buClr>
                <a:schemeClr val="lt1"/>
              </a:buClr>
              <a:buSzPts val="1800"/>
              <a:buFont typeface="Arial"/>
              <a:buChar char="●"/>
            </a:pPr>
            <a:r>
              <a:rPr b="0" i="0" lang="es-419" sz="1800" u="none" cap="none" strike="noStrike">
                <a:solidFill>
                  <a:schemeClr val="lt1"/>
                </a:solidFill>
                <a:latin typeface="Arial"/>
                <a:ea typeface="Arial"/>
                <a:cs typeface="Arial"/>
                <a:sym typeface="Arial"/>
              </a:rPr>
              <a:t>[Fe/H] &lt; -0.2</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1"/>
          <p:cNvSpPr/>
          <p:nvPr/>
        </p:nvSpPr>
        <p:spPr>
          <a:xfrm>
            <a:off x="0" y="0"/>
            <a:ext cx="9372600" cy="5482971"/>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166" name="Google Shape;166;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lang="es-419" sz="3020">
                <a:solidFill>
                  <a:schemeClr val="lt1"/>
                </a:solidFill>
              </a:rPr>
              <a:t>Methodology for Determining [Fe/H] and [α/Fe]</a:t>
            </a:r>
            <a:endParaRPr sz="3020">
              <a:solidFill>
                <a:schemeClr val="lt1"/>
              </a:solidFill>
            </a:endParaRPr>
          </a:p>
        </p:txBody>
      </p:sp>
      <p:pic>
        <p:nvPicPr>
          <p:cNvPr id="167" name="Google Shape;167;p11"/>
          <p:cNvPicPr preferRelativeResize="0"/>
          <p:nvPr/>
        </p:nvPicPr>
        <p:blipFill rotWithShape="1">
          <a:blip r:embed="rId4">
            <a:alphaModFix/>
          </a:blip>
          <a:srcRect b="3136" l="5976" r="6526" t="6455"/>
          <a:stretch/>
        </p:blipFill>
        <p:spPr>
          <a:xfrm>
            <a:off x="4882238" y="1650850"/>
            <a:ext cx="3950025" cy="2856851"/>
          </a:xfrm>
          <a:prstGeom prst="rect">
            <a:avLst/>
          </a:prstGeom>
          <a:noFill/>
          <a:ln>
            <a:noFill/>
          </a:ln>
        </p:spPr>
      </p:pic>
      <p:sp>
        <p:nvSpPr>
          <p:cNvPr id="168" name="Google Shape;168;p11"/>
          <p:cNvSpPr txBox="1"/>
          <p:nvPr/>
        </p:nvSpPr>
        <p:spPr>
          <a:xfrm>
            <a:off x="4882200" y="1760375"/>
            <a:ext cx="3950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169" name="Google Shape;169;p11"/>
          <p:cNvSpPr txBox="1"/>
          <p:nvPr/>
        </p:nvSpPr>
        <p:spPr>
          <a:xfrm>
            <a:off x="440838" y="3752500"/>
            <a:ext cx="3820800" cy="117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419" sz="1800" u="none" cap="none" strike="noStrike">
                <a:solidFill>
                  <a:schemeClr val="lt1"/>
                </a:solidFill>
                <a:latin typeface="Arial"/>
                <a:ea typeface="Arial"/>
                <a:cs typeface="Arial"/>
                <a:sym typeface="Arial"/>
              </a:rPr>
              <a:t> The             value is taken from Asplund et al. (2021).</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70" name="Google Shape;170;p11" title="[255,255,255,&quot;https://www.codecogs.com/eqnedit.php?latex=%5Cepsilon(X)_%7B%5Codot%7D#0&quot;]"/>
          <p:cNvPicPr preferRelativeResize="0"/>
          <p:nvPr/>
        </p:nvPicPr>
        <p:blipFill rotWithShape="1">
          <a:blip r:embed="rId5">
            <a:alphaModFix/>
          </a:blip>
          <a:srcRect b="0" l="0" r="0" t="0"/>
          <a:stretch/>
        </p:blipFill>
        <p:spPr>
          <a:xfrm>
            <a:off x="1066403" y="3848126"/>
            <a:ext cx="669097" cy="266200"/>
          </a:xfrm>
          <a:prstGeom prst="rect">
            <a:avLst/>
          </a:prstGeom>
          <a:noFill/>
          <a:ln>
            <a:noFill/>
          </a:ln>
        </p:spPr>
      </p:pic>
      <p:pic>
        <p:nvPicPr>
          <p:cNvPr id="171" name="Google Shape;171;p11" title="[255,255,255,&quot;https://www.codecogs.com/eqnedit.php?latex=%5B%5Calpha%2FFe%5D%20%3D%20%5B%5Calpha%2FH%5D%20-%20%5BFe%2FH%5D#0&quot;]"/>
          <p:cNvPicPr preferRelativeResize="0"/>
          <p:nvPr/>
        </p:nvPicPr>
        <p:blipFill rotWithShape="1">
          <a:blip r:embed="rId6">
            <a:alphaModFix/>
          </a:blip>
          <a:srcRect b="0" l="0" r="0" t="0"/>
          <a:stretch/>
        </p:blipFill>
        <p:spPr>
          <a:xfrm>
            <a:off x="906680" y="3302088"/>
            <a:ext cx="2889142" cy="266200"/>
          </a:xfrm>
          <a:prstGeom prst="rect">
            <a:avLst/>
          </a:prstGeom>
          <a:noFill/>
          <a:ln>
            <a:noFill/>
          </a:ln>
        </p:spPr>
      </p:pic>
      <p:pic>
        <p:nvPicPr>
          <p:cNvPr id="172" name="Google Shape;172;p11" title="[255,255,255,&quot;https://www.codecogs.com/eqnedit.php?latex=%5BFe%2FH%5D%20%3D%20%5Clog(n_%7BFe%7D%20%2F%20n_%7BH%7D)%20-%20%5Clog(n_%7BFe%7D%20%2F%20n_%7BH%7D)_%7B%5Codot%7D#0&quot;]"/>
          <p:cNvPicPr preferRelativeResize="0"/>
          <p:nvPr/>
        </p:nvPicPr>
        <p:blipFill rotWithShape="1">
          <a:blip r:embed="rId7">
            <a:alphaModFix/>
          </a:blip>
          <a:srcRect b="0" l="0" r="0" t="0"/>
          <a:stretch/>
        </p:blipFill>
        <p:spPr>
          <a:xfrm>
            <a:off x="265350" y="1760381"/>
            <a:ext cx="4411830" cy="266200"/>
          </a:xfrm>
          <a:prstGeom prst="rect">
            <a:avLst/>
          </a:prstGeom>
          <a:noFill/>
          <a:ln>
            <a:noFill/>
          </a:ln>
        </p:spPr>
      </p:pic>
      <p:pic>
        <p:nvPicPr>
          <p:cNvPr id="173" name="Google Shape;173;p11" title="[255,255,255,&quot;https://www.codecogs.com/eqnedit.php?latex=%5BFe%2FH%5D%20%3D%20%5Clog(n_%7BFe%7D%20%2F%20n_%7BH%7D)%20-%20(%5Cepsilon(Fe)_%7B%5Codot%7D%20-%2012)#0&quot;]"/>
          <p:cNvPicPr preferRelativeResize="0"/>
          <p:nvPr/>
        </p:nvPicPr>
        <p:blipFill rotWithShape="1">
          <a:blip r:embed="rId8">
            <a:alphaModFix/>
          </a:blip>
          <a:srcRect b="0" l="0" r="0" t="0"/>
          <a:stretch/>
        </p:blipFill>
        <p:spPr>
          <a:xfrm>
            <a:off x="265351" y="2756817"/>
            <a:ext cx="4411825" cy="265454"/>
          </a:xfrm>
          <a:prstGeom prst="rect">
            <a:avLst/>
          </a:prstGeom>
          <a:noFill/>
          <a:ln>
            <a:noFill/>
          </a:ln>
        </p:spPr>
      </p:pic>
      <p:pic>
        <p:nvPicPr>
          <p:cNvPr id="174" name="Google Shape;174;p11" title="[255,255,255,&quot;https://www.codecogs.com/eqnedit.php?latex=%5Cepsilon(X)%20%3D%20%5Clog(n_%7BX%7D%20%2F%20n_%7BH%7D)%20%2B%2012#0&quot;]"/>
          <p:cNvPicPr preferRelativeResize="0"/>
          <p:nvPr/>
        </p:nvPicPr>
        <p:blipFill rotWithShape="1">
          <a:blip r:embed="rId9">
            <a:alphaModFix/>
          </a:blip>
          <a:srcRect b="0" l="0" r="0" t="0"/>
          <a:stretch/>
        </p:blipFill>
        <p:spPr>
          <a:xfrm>
            <a:off x="959087" y="2306763"/>
            <a:ext cx="2784340" cy="266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2"/>
          <p:cNvSpPr/>
          <p:nvPr/>
        </p:nvSpPr>
        <p:spPr>
          <a:xfrm>
            <a:off x="0" y="0"/>
            <a:ext cx="9509760" cy="5543893"/>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180" name="Google Shape;180;p12"/>
          <p:cNvSpPr txBox="1"/>
          <p:nvPr>
            <p:ph type="title"/>
          </p:nvPr>
        </p:nvSpPr>
        <p:spPr>
          <a:xfrm>
            <a:off x="73675" y="128500"/>
            <a:ext cx="9362400" cy="569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es-419" sz="2420">
                <a:solidFill>
                  <a:schemeClr val="lt1"/>
                </a:solidFill>
              </a:rPr>
              <a:t>More precise restrictions for the searching of LMC-type Galaxies</a:t>
            </a:r>
            <a:endParaRPr b="1" sz="2420">
              <a:solidFill>
                <a:schemeClr val="lt1"/>
              </a:solidFill>
            </a:endParaRPr>
          </a:p>
          <a:p>
            <a:pPr indent="0" lvl="0" marL="0" rtl="0" algn="l">
              <a:lnSpc>
                <a:spcPct val="100000"/>
              </a:lnSpc>
              <a:spcBef>
                <a:spcPts val="0"/>
              </a:spcBef>
              <a:spcAft>
                <a:spcPts val="0"/>
              </a:spcAft>
              <a:buSzPts val="990"/>
              <a:buNone/>
            </a:pPr>
            <a:r>
              <a:t/>
            </a:r>
            <a:endParaRPr sz="2520">
              <a:solidFill>
                <a:schemeClr val="lt1"/>
              </a:solidFill>
            </a:endParaRPr>
          </a:p>
        </p:txBody>
      </p:sp>
      <p:sp>
        <p:nvSpPr>
          <p:cNvPr id="181" name="Google Shape;181;p12"/>
          <p:cNvSpPr txBox="1"/>
          <p:nvPr>
            <p:ph idx="1" type="body"/>
          </p:nvPr>
        </p:nvSpPr>
        <p:spPr>
          <a:xfrm>
            <a:off x="311700" y="1152475"/>
            <a:ext cx="4140300" cy="34164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Clr>
                <a:schemeClr val="lt1"/>
              </a:buClr>
              <a:buSzPts val="1600"/>
              <a:buChar char="●"/>
            </a:pPr>
            <a:r>
              <a:rPr b="1" lang="es-419" sz="1600">
                <a:solidFill>
                  <a:schemeClr val="lt1"/>
                </a:solidFill>
              </a:rPr>
              <a:t>Mass: (</a:t>
            </a:r>
            <a:r>
              <a:rPr lang="es-419" sz="1600">
                <a:solidFill>
                  <a:schemeClr val="lt1"/>
                </a:solidFill>
              </a:rPr>
              <a:t>10</a:t>
            </a:r>
            <a:r>
              <a:rPr baseline="30000" lang="es-419" sz="1600">
                <a:solidFill>
                  <a:schemeClr val="lt1"/>
                </a:solidFill>
              </a:rPr>
              <a:t>9.4-9.6</a:t>
            </a:r>
            <a:r>
              <a:rPr lang="es-419" sz="1600">
                <a:solidFill>
                  <a:schemeClr val="lt1"/>
                </a:solidFill>
              </a:rPr>
              <a:t>M</a:t>
            </a:r>
            <a:r>
              <a:rPr baseline="-25000" lang="es-419" sz="1600">
                <a:solidFill>
                  <a:schemeClr val="lt1"/>
                </a:solidFill>
              </a:rPr>
              <a:t>☉</a:t>
            </a:r>
            <a:r>
              <a:rPr b="1" lang="es-419" sz="1600">
                <a:solidFill>
                  <a:schemeClr val="lt1"/>
                </a:solidFill>
              </a:rPr>
              <a:t>)</a:t>
            </a:r>
            <a:endParaRPr b="1" sz="1600">
              <a:solidFill>
                <a:schemeClr val="lt1"/>
              </a:solidFill>
            </a:endParaRPr>
          </a:p>
          <a:p>
            <a:pPr indent="-330200" lvl="0" marL="457200" rtl="0" algn="l">
              <a:lnSpc>
                <a:spcPct val="115000"/>
              </a:lnSpc>
              <a:spcBef>
                <a:spcPts val="0"/>
              </a:spcBef>
              <a:spcAft>
                <a:spcPts val="0"/>
              </a:spcAft>
              <a:buClr>
                <a:schemeClr val="lt1"/>
              </a:buClr>
              <a:buSzPts val="1600"/>
              <a:buChar char="●"/>
            </a:pPr>
            <a:r>
              <a:rPr b="1" lang="es-419" sz="1600">
                <a:solidFill>
                  <a:schemeClr val="lt1"/>
                </a:solidFill>
              </a:rPr>
              <a:t>SFE: (</a:t>
            </a:r>
            <a:r>
              <a:rPr lang="es-419" sz="1600">
                <a:solidFill>
                  <a:schemeClr val="lt1"/>
                </a:solidFill>
              </a:rPr>
              <a:t>10</a:t>
            </a:r>
            <a:r>
              <a:rPr baseline="30000" lang="es-419" sz="1600">
                <a:solidFill>
                  <a:schemeClr val="lt1"/>
                </a:solidFill>
              </a:rPr>
              <a:t>-11.1</a:t>
            </a:r>
            <a:r>
              <a:rPr lang="es-419" sz="1600">
                <a:solidFill>
                  <a:schemeClr val="lt1"/>
                </a:solidFill>
              </a:rPr>
              <a:t>yr⁻¹, 10</a:t>
            </a:r>
            <a:r>
              <a:rPr baseline="30000" lang="es-419" sz="1600">
                <a:solidFill>
                  <a:schemeClr val="lt1"/>
                </a:solidFill>
              </a:rPr>
              <a:t>-10.9</a:t>
            </a:r>
            <a:r>
              <a:rPr lang="es-419" sz="1600">
                <a:solidFill>
                  <a:schemeClr val="lt1"/>
                </a:solidFill>
              </a:rPr>
              <a:t>yr⁻¹</a:t>
            </a:r>
            <a:r>
              <a:rPr b="1" lang="es-419" sz="1600">
                <a:solidFill>
                  <a:schemeClr val="lt1"/>
                </a:solidFill>
              </a:rPr>
              <a:t>)</a:t>
            </a:r>
            <a:endParaRPr b="1" sz="1600">
              <a:solidFill>
                <a:schemeClr val="lt1"/>
              </a:solidFill>
            </a:endParaRPr>
          </a:p>
          <a:p>
            <a:pPr indent="-330200" lvl="0" marL="457200" rtl="0" algn="l">
              <a:lnSpc>
                <a:spcPct val="115000"/>
              </a:lnSpc>
              <a:spcBef>
                <a:spcPts val="0"/>
              </a:spcBef>
              <a:spcAft>
                <a:spcPts val="0"/>
              </a:spcAft>
              <a:buClr>
                <a:schemeClr val="lt1"/>
              </a:buClr>
              <a:buSzPts val="1600"/>
              <a:buChar char="●"/>
            </a:pPr>
            <a:r>
              <a:rPr b="1" lang="es-419" sz="1600">
                <a:solidFill>
                  <a:schemeClr val="lt1"/>
                </a:solidFill>
              </a:rPr>
              <a:t>Halo Mass</a:t>
            </a:r>
            <a:r>
              <a:rPr lang="es-419" sz="1600">
                <a:solidFill>
                  <a:schemeClr val="lt1"/>
                </a:solidFill>
              </a:rPr>
              <a:t>: (10</a:t>
            </a:r>
            <a:r>
              <a:rPr baseline="30000" lang="es-419" sz="1600">
                <a:solidFill>
                  <a:schemeClr val="lt1"/>
                </a:solidFill>
              </a:rPr>
              <a:t>9-11.5</a:t>
            </a:r>
            <a:r>
              <a:rPr lang="es-419" sz="1600">
                <a:solidFill>
                  <a:schemeClr val="lt1"/>
                </a:solidFill>
              </a:rPr>
              <a:t>M</a:t>
            </a:r>
            <a:r>
              <a:rPr baseline="-25000" lang="es-419" sz="1600">
                <a:solidFill>
                  <a:schemeClr val="lt1"/>
                </a:solidFill>
              </a:rPr>
              <a:t>☉</a:t>
            </a:r>
            <a:r>
              <a:rPr lang="es-419" sz="1600">
                <a:solidFill>
                  <a:schemeClr val="lt1"/>
                </a:solidFill>
              </a:rPr>
              <a:t>)</a:t>
            </a:r>
            <a:endParaRPr sz="1600">
              <a:solidFill>
                <a:schemeClr val="lt1"/>
              </a:solidFill>
            </a:endParaRPr>
          </a:p>
        </p:txBody>
      </p:sp>
      <p:pic>
        <p:nvPicPr>
          <p:cNvPr id="182" name="Google Shape;182;p12"/>
          <p:cNvPicPr preferRelativeResize="0"/>
          <p:nvPr/>
        </p:nvPicPr>
        <p:blipFill rotWithShape="1">
          <a:blip r:embed="rId4">
            <a:alphaModFix/>
          </a:blip>
          <a:srcRect b="0" l="0" r="0" t="0"/>
          <a:stretch/>
        </p:blipFill>
        <p:spPr>
          <a:xfrm>
            <a:off x="311700" y="2286850"/>
            <a:ext cx="4603300" cy="2761950"/>
          </a:xfrm>
          <a:prstGeom prst="rect">
            <a:avLst/>
          </a:prstGeom>
          <a:noFill/>
          <a:ln>
            <a:noFill/>
          </a:ln>
        </p:spPr>
      </p:pic>
      <p:pic>
        <p:nvPicPr>
          <p:cNvPr id="183" name="Google Shape;183;p12"/>
          <p:cNvPicPr preferRelativeResize="0"/>
          <p:nvPr/>
        </p:nvPicPr>
        <p:blipFill rotWithShape="1">
          <a:blip r:embed="rId5">
            <a:alphaModFix/>
          </a:blip>
          <a:srcRect b="0" l="0" r="0" t="0"/>
          <a:stretch/>
        </p:blipFill>
        <p:spPr>
          <a:xfrm>
            <a:off x="5151708" y="1399125"/>
            <a:ext cx="3778566" cy="2833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3"/>
          <p:cNvSpPr/>
          <p:nvPr/>
        </p:nvSpPr>
        <p:spPr>
          <a:xfrm>
            <a:off x="0" y="0"/>
            <a:ext cx="18288000" cy="12184380"/>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189" name="Google Shape;189;p13"/>
          <p:cNvSpPr txBox="1"/>
          <p:nvPr>
            <p:ph type="title"/>
          </p:nvPr>
        </p:nvSpPr>
        <p:spPr>
          <a:xfrm>
            <a:off x="1264500" y="183100"/>
            <a:ext cx="6615000" cy="61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b="1" lang="es-419" sz="3020">
                <a:solidFill>
                  <a:schemeClr val="lt1"/>
                </a:solidFill>
              </a:rPr>
              <a:t>Comparison with the observations</a:t>
            </a:r>
            <a:endParaRPr b="1" sz="3020">
              <a:solidFill>
                <a:schemeClr val="lt1"/>
              </a:solidFill>
            </a:endParaRPr>
          </a:p>
        </p:txBody>
      </p:sp>
      <p:sp>
        <p:nvSpPr>
          <p:cNvPr id="190" name="Google Shape;190;p13"/>
          <p:cNvSpPr txBox="1"/>
          <p:nvPr>
            <p:ph idx="1" type="body"/>
          </p:nvPr>
        </p:nvSpPr>
        <p:spPr>
          <a:xfrm>
            <a:off x="4479375" y="3813225"/>
            <a:ext cx="3840000" cy="61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688"/>
              <a:buNone/>
            </a:pPr>
            <a:r>
              <a:rPr b="1" lang="es-419" sz="1125">
                <a:solidFill>
                  <a:schemeClr val="lt1"/>
                </a:solidFill>
              </a:rPr>
              <a:t>Source: Nidever et al. (2020)</a:t>
            </a:r>
            <a:endParaRPr b="1" sz="1125">
              <a:solidFill>
                <a:schemeClr val="lt1"/>
              </a:solidFill>
            </a:endParaRPr>
          </a:p>
          <a:p>
            <a:pPr indent="0" lvl="0" marL="0" rtl="0" algn="l">
              <a:lnSpc>
                <a:spcPct val="100000"/>
              </a:lnSpc>
              <a:spcBef>
                <a:spcPts val="0"/>
              </a:spcBef>
              <a:spcAft>
                <a:spcPts val="0"/>
              </a:spcAft>
              <a:buSzPts val="688"/>
              <a:buNone/>
            </a:pPr>
            <a:r>
              <a:rPr b="1" lang="es-419" sz="1125">
                <a:solidFill>
                  <a:schemeClr val="lt1"/>
                </a:solidFill>
              </a:rPr>
              <a:t>Figure: Comparison of the Metallicity with </a:t>
            </a:r>
            <a:r>
              <a:rPr b="1" lang="es-419" sz="1100">
                <a:solidFill>
                  <a:schemeClr val="lt1"/>
                </a:solidFill>
              </a:rPr>
              <a:t>𝛼</a:t>
            </a:r>
            <a:r>
              <a:rPr b="1" lang="es-419" sz="1125">
                <a:solidFill>
                  <a:schemeClr val="lt1"/>
                </a:solidFill>
              </a:rPr>
              <a:t>0.15 and Mv of various Local Group galaxies</a:t>
            </a:r>
            <a:endParaRPr b="1" sz="1125">
              <a:solidFill>
                <a:schemeClr val="lt1"/>
              </a:solidFill>
            </a:endParaRPr>
          </a:p>
        </p:txBody>
      </p:sp>
      <p:pic>
        <p:nvPicPr>
          <p:cNvPr id="191" name="Google Shape;191;p13"/>
          <p:cNvPicPr preferRelativeResize="0"/>
          <p:nvPr/>
        </p:nvPicPr>
        <p:blipFill rotWithShape="1">
          <a:blip r:embed="rId4">
            <a:alphaModFix/>
          </a:blip>
          <a:srcRect b="0" l="0" r="0" t="0"/>
          <a:stretch/>
        </p:blipFill>
        <p:spPr>
          <a:xfrm>
            <a:off x="4543075" y="976400"/>
            <a:ext cx="4203899" cy="2836824"/>
          </a:xfrm>
          <a:prstGeom prst="rect">
            <a:avLst/>
          </a:prstGeom>
          <a:noFill/>
          <a:ln>
            <a:noFill/>
          </a:ln>
        </p:spPr>
      </p:pic>
      <p:pic>
        <p:nvPicPr>
          <p:cNvPr id="192" name="Google Shape;192;p13"/>
          <p:cNvPicPr preferRelativeResize="0"/>
          <p:nvPr/>
        </p:nvPicPr>
        <p:blipFill rotWithShape="1">
          <a:blip r:embed="rId5">
            <a:alphaModFix/>
          </a:blip>
          <a:srcRect b="0" l="0" r="0" t="0"/>
          <a:stretch/>
        </p:blipFill>
        <p:spPr>
          <a:xfrm>
            <a:off x="663202" y="976400"/>
            <a:ext cx="3736872" cy="2802650"/>
          </a:xfrm>
          <a:prstGeom prst="rect">
            <a:avLst/>
          </a:prstGeom>
          <a:noFill/>
          <a:ln>
            <a:noFill/>
          </a:ln>
        </p:spPr>
      </p:pic>
      <p:cxnSp>
        <p:nvCxnSpPr>
          <p:cNvPr id="193" name="Google Shape;193;p13"/>
          <p:cNvCxnSpPr/>
          <p:nvPr/>
        </p:nvCxnSpPr>
        <p:spPr>
          <a:xfrm rot="10800000">
            <a:off x="1307750" y="1301475"/>
            <a:ext cx="2722800" cy="17733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4"/>
          <p:cNvSpPr/>
          <p:nvPr/>
        </p:nvSpPr>
        <p:spPr>
          <a:xfrm>
            <a:off x="0" y="0"/>
            <a:ext cx="18288000" cy="12184380"/>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199" name="Google Shape;199;p14"/>
          <p:cNvSpPr txBox="1"/>
          <p:nvPr>
            <p:ph type="title"/>
          </p:nvPr>
        </p:nvSpPr>
        <p:spPr>
          <a:xfrm>
            <a:off x="160975" y="84725"/>
            <a:ext cx="90144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b="1" lang="es-419" sz="3020">
                <a:solidFill>
                  <a:schemeClr val="lt1"/>
                </a:solidFill>
              </a:rPr>
              <a:t>Another view for selecting LMC-type </a:t>
            </a:r>
            <a:endParaRPr b="1" sz="3020">
              <a:solidFill>
                <a:schemeClr val="lt1"/>
              </a:solidFill>
            </a:endParaRPr>
          </a:p>
        </p:txBody>
      </p:sp>
      <p:sp>
        <p:nvSpPr>
          <p:cNvPr id="200" name="Google Shape;200;p14"/>
          <p:cNvSpPr txBox="1"/>
          <p:nvPr>
            <p:ph idx="1" type="body"/>
          </p:nvPr>
        </p:nvSpPr>
        <p:spPr>
          <a:xfrm>
            <a:off x="267850" y="1200775"/>
            <a:ext cx="3695100" cy="761700"/>
          </a:xfrm>
          <a:prstGeom prst="rect">
            <a:avLst/>
          </a:prstGeom>
          <a:noFill/>
          <a:ln>
            <a:noFill/>
          </a:ln>
        </p:spPr>
        <p:txBody>
          <a:bodyPr anchorCtr="0" anchor="t" bIns="91425" lIns="91425" spcFirstLastPara="1" rIns="91425" wrap="square" tIns="91425">
            <a:normAutofit/>
          </a:bodyPr>
          <a:lstStyle/>
          <a:p>
            <a:pPr indent="0" lvl="0" marL="0" rtl="0" algn="l">
              <a:lnSpc>
                <a:spcPct val="105000"/>
              </a:lnSpc>
              <a:spcBef>
                <a:spcPts val="0"/>
              </a:spcBef>
              <a:spcAft>
                <a:spcPts val="1200"/>
              </a:spcAft>
              <a:buSzPts val="1800"/>
              <a:buNone/>
            </a:pPr>
            <a:r>
              <a:rPr lang="es-419" sz="1600">
                <a:solidFill>
                  <a:schemeClr val="lt1"/>
                </a:solidFill>
              </a:rPr>
              <a:t>Same conditions but selecting Central Galaxies only.</a:t>
            </a:r>
            <a:endParaRPr sz="1600">
              <a:solidFill>
                <a:schemeClr val="lt1"/>
              </a:solidFill>
            </a:endParaRPr>
          </a:p>
        </p:txBody>
      </p:sp>
      <p:pic>
        <p:nvPicPr>
          <p:cNvPr id="201" name="Google Shape;201;p14"/>
          <p:cNvPicPr preferRelativeResize="0"/>
          <p:nvPr/>
        </p:nvPicPr>
        <p:blipFill rotWithShape="1">
          <a:blip r:embed="rId4">
            <a:alphaModFix/>
          </a:blip>
          <a:srcRect b="0" l="0" r="0" t="0"/>
          <a:stretch/>
        </p:blipFill>
        <p:spPr>
          <a:xfrm>
            <a:off x="267852" y="2111000"/>
            <a:ext cx="3879148" cy="2702899"/>
          </a:xfrm>
          <a:prstGeom prst="rect">
            <a:avLst/>
          </a:prstGeom>
          <a:noFill/>
          <a:ln>
            <a:noFill/>
          </a:ln>
        </p:spPr>
      </p:pic>
      <p:sp>
        <p:nvSpPr>
          <p:cNvPr id="202" name="Google Shape;202;p14"/>
          <p:cNvSpPr txBox="1"/>
          <p:nvPr/>
        </p:nvSpPr>
        <p:spPr>
          <a:xfrm>
            <a:off x="4510875" y="1134475"/>
            <a:ext cx="4001400" cy="82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419" sz="1600" u="none" cap="none" strike="noStrike">
                <a:solidFill>
                  <a:schemeClr val="lt1"/>
                </a:solidFill>
                <a:latin typeface="Roboto"/>
                <a:ea typeface="Roboto"/>
                <a:cs typeface="Roboto"/>
                <a:sym typeface="Roboto"/>
              </a:rPr>
              <a:t>Sum of masses of all particles/cells (split by type) within </a:t>
            </a:r>
            <a:r>
              <a:rPr b="1" i="0" lang="es-419" sz="1600" u="none" cap="none" strike="noStrike">
                <a:solidFill>
                  <a:schemeClr val="lt1"/>
                </a:solidFill>
                <a:latin typeface="Roboto"/>
                <a:ea typeface="Roboto"/>
                <a:cs typeface="Roboto"/>
                <a:sym typeface="Roboto"/>
              </a:rPr>
              <a:t>twice</a:t>
            </a:r>
            <a:r>
              <a:rPr b="0" i="0" lang="es-419" sz="1600" u="none" cap="none" strike="noStrike">
                <a:solidFill>
                  <a:schemeClr val="lt1"/>
                </a:solidFill>
                <a:latin typeface="Roboto"/>
                <a:ea typeface="Roboto"/>
                <a:cs typeface="Roboto"/>
                <a:sym typeface="Roboto"/>
              </a:rPr>
              <a:t> the stellar half mass radius.</a:t>
            </a:r>
            <a:endParaRPr b="0" i="0" sz="1600" u="none" cap="none" strike="noStrike">
              <a:solidFill>
                <a:schemeClr val="lt1"/>
              </a:solidFill>
              <a:latin typeface="Arial"/>
              <a:ea typeface="Arial"/>
              <a:cs typeface="Arial"/>
              <a:sym typeface="Arial"/>
            </a:endParaRPr>
          </a:p>
        </p:txBody>
      </p:sp>
      <p:pic>
        <p:nvPicPr>
          <p:cNvPr id="203" name="Google Shape;203;p14"/>
          <p:cNvPicPr preferRelativeResize="0"/>
          <p:nvPr/>
        </p:nvPicPr>
        <p:blipFill rotWithShape="1">
          <a:blip r:embed="rId5">
            <a:alphaModFix/>
          </a:blip>
          <a:srcRect b="0" l="0" r="0" t="0"/>
          <a:stretch/>
        </p:blipFill>
        <p:spPr>
          <a:xfrm>
            <a:off x="5040425" y="2111000"/>
            <a:ext cx="3879151" cy="270638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5"/>
          <p:cNvSpPr/>
          <p:nvPr/>
        </p:nvSpPr>
        <p:spPr>
          <a:xfrm>
            <a:off x="0" y="0"/>
            <a:ext cx="18288000" cy="12184380"/>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pic>
        <p:nvPicPr>
          <p:cNvPr id="209" name="Google Shape;209;p15"/>
          <p:cNvPicPr preferRelativeResize="0"/>
          <p:nvPr/>
        </p:nvPicPr>
        <p:blipFill rotWithShape="1">
          <a:blip r:embed="rId4">
            <a:alphaModFix/>
          </a:blip>
          <a:srcRect b="0" l="0" r="0" t="0"/>
          <a:stretch/>
        </p:blipFill>
        <p:spPr>
          <a:xfrm>
            <a:off x="559450" y="696950"/>
            <a:ext cx="3432059" cy="2212076"/>
          </a:xfrm>
          <a:prstGeom prst="rect">
            <a:avLst/>
          </a:prstGeom>
          <a:noFill/>
          <a:ln>
            <a:noFill/>
          </a:ln>
        </p:spPr>
      </p:pic>
      <p:pic>
        <p:nvPicPr>
          <p:cNvPr id="210" name="Google Shape;210;p15"/>
          <p:cNvPicPr preferRelativeResize="0"/>
          <p:nvPr/>
        </p:nvPicPr>
        <p:blipFill rotWithShape="1">
          <a:blip r:embed="rId5">
            <a:alphaModFix/>
          </a:blip>
          <a:srcRect b="0" l="0" r="0" t="0"/>
          <a:stretch/>
        </p:blipFill>
        <p:spPr>
          <a:xfrm>
            <a:off x="1050625" y="3020200"/>
            <a:ext cx="6460200" cy="1904425"/>
          </a:xfrm>
          <a:prstGeom prst="rect">
            <a:avLst/>
          </a:prstGeom>
          <a:noFill/>
          <a:ln>
            <a:noFill/>
          </a:ln>
        </p:spPr>
      </p:pic>
      <p:pic>
        <p:nvPicPr>
          <p:cNvPr id="211" name="Google Shape;211;p15"/>
          <p:cNvPicPr preferRelativeResize="0"/>
          <p:nvPr/>
        </p:nvPicPr>
        <p:blipFill rotWithShape="1">
          <a:blip r:embed="rId6">
            <a:alphaModFix/>
          </a:blip>
          <a:srcRect b="0" l="0" r="0" t="0"/>
          <a:stretch/>
        </p:blipFill>
        <p:spPr>
          <a:xfrm>
            <a:off x="4429700" y="696950"/>
            <a:ext cx="3387754" cy="2212075"/>
          </a:xfrm>
          <a:prstGeom prst="rect">
            <a:avLst/>
          </a:prstGeom>
          <a:noFill/>
          <a:ln>
            <a:noFill/>
          </a:ln>
        </p:spPr>
      </p:pic>
      <p:sp>
        <p:nvSpPr>
          <p:cNvPr id="212" name="Google Shape;212;p15"/>
          <p:cNvSpPr txBox="1"/>
          <p:nvPr/>
        </p:nvSpPr>
        <p:spPr>
          <a:xfrm>
            <a:off x="498275" y="98875"/>
            <a:ext cx="7905300" cy="48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s-419" sz="2700" u="none" cap="none" strike="noStrike">
                <a:solidFill>
                  <a:schemeClr val="lt1"/>
                </a:solidFill>
                <a:latin typeface="Arial"/>
                <a:ea typeface="Arial"/>
                <a:cs typeface="Arial"/>
                <a:sym typeface="Arial"/>
              </a:rPr>
              <a:t>Evolution over time for SFR and Gas Fraction</a:t>
            </a:r>
            <a:endParaRPr b="0" i="0" sz="27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3" name="Google Shape;213;p15"/>
          <p:cNvSpPr txBox="1"/>
          <p:nvPr/>
        </p:nvSpPr>
        <p:spPr>
          <a:xfrm>
            <a:off x="2445825" y="5061175"/>
            <a:ext cx="2801100" cy="27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214" name="Google Shape;214;p15"/>
          <p:cNvSpPr txBox="1"/>
          <p:nvPr/>
        </p:nvSpPr>
        <p:spPr>
          <a:xfrm>
            <a:off x="3043175" y="4827175"/>
            <a:ext cx="2591100" cy="23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419" sz="1800" u="none" cap="none" strike="noStrike">
                <a:solidFill>
                  <a:schemeClr val="lt1"/>
                </a:solidFill>
                <a:latin typeface="Arial"/>
                <a:ea typeface="Arial"/>
                <a:cs typeface="Arial"/>
                <a:sym typeface="Arial"/>
              </a:rPr>
              <a:t>ID galaxy: 677069</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6"/>
          <p:cNvSpPr/>
          <p:nvPr/>
        </p:nvSpPr>
        <p:spPr>
          <a:xfrm>
            <a:off x="0" y="0"/>
            <a:ext cx="9464040" cy="5147901"/>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220" name="Google Shape;220;p16"/>
          <p:cNvSpPr txBox="1"/>
          <p:nvPr>
            <p:ph type="title"/>
          </p:nvPr>
        </p:nvSpPr>
        <p:spPr>
          <a:xfrm>
            <a:off x="311700" y="2926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b="1" lang="es-419" sz="3020">
                <a:solidFill>
                  <a:schemeClr val="lt1"/>
                </a:solidFill>
              </a:rPr>
              <a:t>Galaxies like SMC (in a smaller range) </a:t>
            </a:r>
            <a:endParaRPr b="1" sz="3020">
              <a:solidFill>
                <a:schemeClr val="lt1"/>
              </a:solidFill>
            </a:endParaRPr>
          </a:p>
        </p:txBody>
      </p:sp>
      <p:graphicFrame>
        <p:nvGraphicFramePr>
          <p:cNvPr id="221" name="Google Shape;221;p16"/>
          <p:cNvGraphicFramePr/>
          <p:nvPr/>
        </p:nvGraphicFramePr>
        <p:xfrm>
          <a:off x="5117325" y="1334063"/>
          <a:ext cx="3000000" cy="3000000"/>
        </p:xfrm>
        <a:graphic>
          <a:graphicData uri="http://schemas.openxmlformats.org/drawingml/2006/table">
            <a:tbl>
              <a:tblPr>
                <a:noFill/>
                <a:tableStyleId>{43BCD029-0BC6-434C-B91B-DC90D2DB970E}</a:tableStyleId>
              </a:tblPr>
              <a:tblGrid>
                <a:gridCol w="1250200"/>
                <a:gridCol w="684950"/>
                <a:gridCol w="967575"/>
                <a:gridCol w="967575"/>
              </a:tblGrid>
              <a:tr h="608550">
                <a:tc>
                  <a:txBody>
                    <a:bodyPr/>
                    <a:lstStyle/>
                    <a:p>
                      <a:pPr indent="0" lvl="0" marL="0" marR="38100" rtl="0" algn="l">
                        <a:lnSpc>
                          <a:spcPct val="128571"/>
                        </a:lnSpc>
                        <a:spcBef>
                          <a:spcPts val="0"/>
                        </a:spcBef>
                        <a:spcAft>
                          <a:spcPts val="0"/>
                        </a:spcAft>
                        <a:buClr>
                          <a:schemeClr val="dk1"/>
                        </a:buClr>
                        <a:buSzPts val="1100"/>
                        <a:buFont typeface="Arial"/>
                        <a:buNone/>
                      </a:pPr>
                      <a:r>
                        <a:rPr b="1" lang="es-419" sz="1400" u="none" cap="none" strike="noStrike">
                          <a:solidFill>
                            <a:srgbClr val="333333"/>
                          </a:solidFill>
                        </a:rPr>
                        <a:t>Properties</a:t>
                      </a:r>
                      <a:endParaRPr b="1"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solidFill>
                            <a:srgbClr val="333333"/>
                          </a:solidFill>
                        </a:rPr>
                        <a:t>SMC</a:t>
                      </a:r>
                      <a:endParaRPr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solidFill>
                            <a:srgbClr val="333333"/>
                          </a:solidFill>
                        </a:rPr>
                        <a:t>Galaxy </a:t>
                      </a:r>
                      <a:r>
                        <a:rPr b="1" lang="es-419" sz="1400" u="none" cap="none" strike="noStrike">
                          <a:solidFill>
                            <a:srgbClr val="333333"/>
                          </a:solidFill>
                        </a:rPr>
                        <a:t>795087</a:t>
                      </a:r>
                      <a:endParaRPr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solidFill>
                            <a:srgbClr val="333333"/>
                          </a:solidFill>
                        </a:rPr>
                        <a:t>Galaxy </a:t>
                      </a:r>
                      <a:endParaRPr sz="1400" u="none" cap="none" strike="noStrike">
                        <a:solidFill>
                          <a:srgbClr val="333333"/>
                        </a:solidFill>
                      </a:endParaRPr>
                    </a:p>
                    <a:p>
                      <a:pPr indent="0" lvl="0" marL="0" marR="0" rtl="0" algn="l">
                        <a:lnSpc>
                          <a:spcPct val="100000"/>
                        </a:lnSpc>
                        <a:spcBef>
                          <a:spcPts val="0"/>
                        </a:spcBef>
                        <a:spcAft>
                          <a:spcPts val="0"/>
                        </a:spcAft>
                        <a:buClr>
                          <a:srgbClr val="000000"/>
                        </a:buClr>
                        <a:buSzPts val="1400"/>
                        <a:buFont typeface="Arial"/>
                        <a:buNone/>
                      </a:pPr>
                      <a:r>
                        <a:rPr b="1" lang="es-419" sz="1400" u="none" cap="none" strike="noStrike">
                          <a:solidFill>
                            <a:srgbClr val="333333"/>
                          </a:solidFill>
                        </a:rPr>
                        <a:t>811450</a:t>
                      </a:r>
                      <a:endParaRPr b="1"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r>
              <a:tr h="568400">
                <a:tc>
                  <a:txBody>
                    <a:bodyPr/>
                    <a:lstStyle/>
                    <a:p>
                      <a:pPr indent="0" lvl="0" marL="0" marR="0" rtl="0" algn="l">
                        <a:lnSpc>
                          <a:spcPct val="100000"/>
                        </a:lnSpc>
                        <a:spcBef>
                          <a:spcPts val="0"/>
                        </a:spcBef>
                        <a:spcAft>
                          <a:spcPts val="0"/>
                        </a:spcAft>
                        <a:buClr>
                          <a:srgbClr val="000000"/>
                        </a:buClr>
                        <a:buSzPts val="1400"/>
                        <a:buFont typeface="Arial"/>
                        <a:buNone/>
                      </a:pPr>
                      <a:r>
                        <a:rPr b="1" lang="es-419" sz="1400" u="none" cap="none" strike="noStrike">
                          <a:solidFill>
                            <a:srgbClr val="333333"/>
                          </a:solidFill>
                        </a:rPr>
                        <a:t>Stellar Mass</a:t>
                      </a:r>
                      <a:endParaRPr b="1" sz="1400" u="none" cap="none" strike="noStrike">
                        <a:solidFill>
                          <a:srgbClr val="333333"/>
                        </a:solidFill>
                      </a:endParaRPr>
                    </a:p>
                    <a:p>
                      <a:pPr indent="0" lvl="0" marL="0" marR="0" rtl="0" algn="l">
                        <a:lnSpc>
                          <a:spcPct val="100000"/>
                        </a:lnSpc>
                        <a:spcBef>
                          <a:spcPts val="0"/>
                        </a:spcBef>
                        <a:spcAft>
                          <a:spcPts val="0"/>
                        </a:spcAft>
                        <a:buClr>
                          <a:srgbClr val="000000"/>
                        </a:buClr>
                        <a:buSzPts val="1400"/>
                        <a:buFont typeface="Arial"/>
                        <a:buNone/>
                      </a:pPr>
                      <a:r>
                        <a:rPr b="1" lang="es-419" sz="1400" u="none" cap="none" strike="noStrike">
                          <a:solidFill>
                            <a:srgbClr val="333333"/>
                          </a:solidFill>
                        </a:rPr>
                        <a:t>log(M⊙)</a:t>
                      </a:r>
                      <a:endParaRPr b="1"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solidFill>
                            <a:srgbClr val="333333"/>
                          </a:solidFill>
                        </a:rPr>
                        <a:t>~8.5</a:t>
                      </a:r>
                      <a:endParaRPr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s-419" sz="1400" u="none" cap="none" strike="noStrike">
                          <a:solidFill>
                            <a:srgbClr val="333333"/>
                          </a:solidFill>
                        </a:rPr>
                        <a:t>~ 9.1</a:t>
                      </a:r>
                      <a:endParaRPr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s-419" sz="1400" u="none" cap="none" strike="noStrike">
                          <a:solidFill>
                            <a:srgbClr val="333333"/>
                          </a:solidFill>
                        </a:rPr>
                        <a:t>~ 7.2</a:t>
                      </a:r>
                      <a:endParaRPr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r>
              <a:tr h="966325">
                <a:tc>
                  <a:txBody>
                    <a:bodyPr/>
                    <a:lstStyle/>
                    <a:p>
                      <a:pPr indent="0" lvl="0" marL="0" marR="0" rtl="0" algn="l">
                        <a:lnSpc>
                          <a:spcPct val="100000"/>
                        </a:lnSpc>
                        <a:spcBef>
                          <a:spcPts val="0"/>
                        </a:spcBef>
                        <a:spcAft>
                          <a:spcPts val="0"/>
                        </a:spcAft>
                        <a:buClr>
                          <a:srgbClr val="000000"/>
                        </a:buClr>
                        <a:buSzPts val="1400"/>
                        <a:buFont typeface="Arial"/>
                        <a:buNone/>
                      </a:pPr>
                      <a:r>
                        <a:rPr b="1" lang="es-419" sz="1400" u="none" cap="none" strike="noStrike">
                          <a:solidFill>
                            <a:srgbClr val="333333"/>
                          </a:solidFill>
                        </a:rPr>
                        <a:t>Maximum Stellar Metallicity</a:t>
                      </a:r>
                      <a:endParaRPr b="1" sz="1400" u="none" cap="none" strike="noStrike">
                        <a:solidFill>
                          <a:srgbClr val="333333"/>
                        </a:solidFill>
                      </a:endParaRPr>
                    </a:p>
                    <a:p>
                      <a:pPr indent="0" lvl="0" marL="0" marR="0" rtl="0" algn="l">
                        <a:lnSpc>
                          <a:spcPct val="100000"/>
                        </a:lnSpc>
                        <a:spcBef>
                          <a:spcPts val="0"/>
                        </a:spcBef>
                        <a:spcAft>
                          <a:spcPts val="0"/>
                        </a:spcAft>
                        <a:buClr>
                          <a:srgbClr val="000000"/>
                        </a:buClr>
                        <a:buSzPts val="1400"/>
                        <a:buFont typeface="Arial"/>
                        <a:buNone/>
                      </a:pPr>
                      <a:r>
                        <a:rPr b="1" lang="es-419" sz="1400" u="none" cap="none" strike="noStrike">
                          <a:solidFill>
                            <a:srgbClr val="333333"/>
                          </a:solidFill>
                        </a:rPr>
                        <a:t>[Fe/H]</a:t>
                      </a:r>
                      <a:endParaRPr b="1"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solidFill>
                            <a:srgbClr val="333333"/>
                          </a:solidFill>
                        </a:rPr>
                        <a:t>-0.5</a:t>
                      </a:r>
                      <a:endParaRPr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s-419" sz="1400" u="none" cap="none" strike="noStrike">
                          <a:solidFill>
                            <a:srgbClr val="333333"/>
                          </a:solidFill>
                        </a:rPr>
                        <a:t>~ -0.4</a:t>
                      </a:r>
                      <a:endParaRPr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s-419" sz="1400" u="none" cap="none" strike="noStrike">
                          <a:solidFill>
                            <a:srgbClr val="333333"/>
                          </a:solidFill>
                        </a:rPr>
                        <a:t>~ -0.5</a:t>
                      </a:r>
                      <a:endParaRPr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r>
              <a:tr h="526125">
                <a:tc>
                  <a:txBody>
                    <a:bodyPr/>
                    <a:lstStyle/>
                    <a:p>
                      <a:pPr indent="0" lvl="0" marL="0" marR="0" rtl="0" algn="l">
                        <a:lnSpc>
                          <a:spcPct val="100000"/>
                        </a:lnSpc>
                        <a:spcBef>
                          <a:spcPts val="0"/>
                        </a:spcBef>
                        <a:spcAft>
                          <a:spcPts val="0"/>
                        </a:spcAft>
                        <a:buClr>
                          <a:srgbClr val="000000"/>
                        </a:buClr>
                        <a:buSzPts val="1400"/>
                        <a:buFont typeface="Arial"/>
                        <a:buNone/>
                      </a:pPr>
                      <a:r>
                        <a:rPr b="1" lang="es-419" sz="1400" u="none" cap="none" strike="noStrike">
                          <a:solidFill>
                            <a:srgbClr val="333333"/>
                          </a:solidFill>
                        </a:rPr>
                        <a:t>SFE (Gyr⁻¹)</a:t>
                      </a:r>
                      <a:endParaRPr b="1"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solidFill>
                            <a:srgbClr val="333333"/>
                          </a:solidFill>
                        </a:rPr>
                        <a:t>~0.01</a:t>
                      </a:r>
                      <a:endParaRPr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s-419" sz="1400" u="none" cap="none" strike="noStrike">
                          <a:solidFill>
                            <a:srgbClr val="333333"/>
                          </a:solidFill>
                        </a:rPr>
                        <a:t>~0.08</a:t>
                      </a:r>
                      <a:endParaRPr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s-419" sz="1400" u="none" cap="none" strike="noStrike">
                          <a:solidFill>
                            <a:srgbClr val="333333"/>
                          </a:solidFill>
                        </a:rPr>
                        <a:t>~0.01</a:t>
                      </a:r>
                      <a:endParaRPr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r>
            </a:tbl>
          </a:graphicData>
        </a:graphic>
      </p:graphicFrame>
      <p:sp>
        <p:nvSpPr>
          <p:cNvPr id="222" name="Google Shape;222;p16"/>
          <p:cNvSpPr txBox="1"/>
          <p:nvPr>
            <p:ph idx="1" type="body"/>
          </p:nvPr>
        </p:nvSpPr>
        <p:spPr>
          <a:xfrm>
            <a:off x="235500" y="4143500"/>
            <a:ext cx="3779100" cy="720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1200"/>
              </a:spcAft>
              <a:buSzPts val="1800"/>
              <a:buNone/>
            </a:pPr>
            <a:r>
              <a:rPr lang="es-419" sz="1400">
                <a:solidFill>
                  <a:schemeClr val="lt1"/>
                </a:solidFill>
              </a:rPr>
              <a:t>Graphic of the selected galaxies similar to the SMC in the range  7.7 &lt; log10(M⭑/M☉) &gt; 8.0</a:t>
            </a:r>
            <a:endParaRPr sz="1400">
              <a:solidFill>
                <a:schemeClr val="lt1"/>
              </a:solidFill>
            </a:endParaRPr>
          </a:p>
        </p:txBody>
      </p:sp>
      <p:pic>
        <p:nvPicPr>
          <p:cNvPr descr="Ícono de validado por la comunidad" id="223" name="Google Shape;223;p16"/>
          <p:cNvPicPr preferRelativeResize="0"/>
          <p:nvPr/>
        </p:nvPicPr>
        <p:blipFill rotWithShape="1">
          <a:blip r:embed="rId4">
            <a:alphaModFix/>
          </a:blip>
          <a:srcRect b="0" l="0" r="0" t="0"/>
          <a:stretch/>
        </p:blipFill>
        <p:spPr>
          <a:xfrm>
            <a:off x="-2738375" y="-149825"/>
            <a:ext cx="152400" cy="152400"/>
          </a:xfrm>
          <a:prstGeom prst="rect">
            <a:avLst/>
          </a:prstGeom>
          <a:noFill/>
          <a:ln>
            <a:noFill/>
          </a:ln>
        </p:spPr>
      </p:pic>
      <p:pic>
        <p:nvPicPr>
          <p:cNvPr id="224" name="Google Shape;224;p16"/>
          <p:cNvPicPr preferRelativeResize="0"/>
          <p:nvPr/>
        </p:nvPicPr>
        <p:blipFill rotWithShape="1">
          <a:blip r:embed="rId5">
            <a:alphaModFix/>
          </a:blip>
          <a:srcRect b="2030" l="5623" r="7184" t="5683"/>
          <a:stretch/>
        </p:blipFill>
        <p:spPr>
          <a:xfrm>
            <a:off x="271550" y="1334075"/>
            <a:ext cx="4379868" cy="27814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7"/>
          <p:cNvSpPr/>
          <p:nvPr/>
        </p:nvSpPr>
        <p:spPr>
          <a:xfrm>
            <a:off x="0" y="-309000"/>
            <a:ext cx="9464040" cy="5452510"/>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230" name="Google Shape;230;p17"/>
          <p:cNvSpPr txBox="1"/>
          <p:nvPr>
            <p:ph type="title"/>
          </p:nvPr>
        </p:nvSpPr>
        <p:spPr>
          <a:xfrm>
            <a:off x="311700" y="2164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990"/>
              <a:buFont typeface="Arial"/>
              <a:buNone/>
            </a:pPr>
            <a:r>
              <a:rPr b="1" lang="es-419" sz="3020">
                <a:solidFill>
                  <a:schemeClr val="lt1"/>
                </a:solidFill>
              </a:rPr>
              <a:t>Galaxies like SMC (in a larger range) </a:t>
            </a:r>
            <a:endParaRPr b="1" sz="3020">
              <a:solidFill>
                <a:schemeClr val="lt1"/>
              </a:solidFill>
            </a:endParaRPr>
          </a:p>
        </p:txBody>
      </p:sp>
      <p:sp>
        <p:nvSpPr>
          <p:cNvPr id="231" name="Google Shape;231;p17"/>
          <p:cNvSpPr txBox="1"/>
          <p:nvPr>
            <p:ph idx="1" type="body"/>
          </p:nvPr>
        </p:nvSpPr>
        <p:spPr>
          <a:xfrm>
            <a:off x="235500" y="4112275"/>
            <a:ext cx="3779100" cy="652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1200"/>
              </a:spcAft>
              <a:buClr>
                <a:schemeClr val="dk1"/>
              </a:buClr>
              <a:buSzPts val="1100"/>
              <a:buFont typeface="Arial"/>
              <a:buNone/>
            </a:pPr>
            <a:r>
              <a:rPr lang="es-419" sz="1400">
                <a:solidFill>
                  <a:schemeClr val="lt1"/>
                </a:solidFill>
              </a:rPr>
              <a:t>Graphic of the selected galaxies similar to the SMC in the range 8.3 &lt; log10(M⋆/M☉) &gt; 8.7</a:t>
            </a:r>
            <a:endParaRPr sz="1400">
              <a:solidFill>
                <a:schemeClr val="lt1"/>
              </a:solidFill>
            </a:endParaRPr>
          </a:p>
        </p:txBody>
      </p:sp>
      <p:graphicFrame>
        <p:nvGraphicFramePr>
          <p:cNvPr id="232" name="Google Shape;232;p17"/>
          <p:cNvGraphicFramePr/>
          <p:nvPr/>
        </p:nvGraphicFramePr>
        <p:xfrm>
          <a:off x="5176350" y="1257863"/>
          <a:ext cx="3000000" cy="3000000"/>
        </p:xfrm>
        <a:graphic>
          <a:graphicData uri="http://schemas.openxmlformats.org/drawingml/2006/table">
            <a:tbl>
              <a:tblPr>
                <a:noFill/>
                <a:tableStyleId>{43BCD029-0BC6-434C-B91B-DC90D2DB970E}</a:tableStyleId>
              </a:tblPr>
              <a:tblGrid>
                <a:gridCol w="1250200"/>
                <a:gridCol w="684950"/>
                <a:gridCol w="967575"/>
                <a:gridCol w="967575"/>
              </a:tblGrid>
              <a:tr h="673750">
                <a:tc>
                  <a:txBody>
                    <a:bodyPr/>
                    <a:lstStyle/>
                    <a:p>
                      <a:pPr indent="0" lvl="0" marL="0" marR="38100" rtl="0" algn="l">
                        <a:lnSpc>
                          <a:spcPct val="128571"/>
                        </a:lnSpc>
                        <a:spcBef>
                          <a:spcPts val="0"/>
                        </a:spcBef>
                        <a:spcAft>
                          <a:spcPts val="0"/>
                        </a:spcAft>
                        <a:buClr>
                          <a:srgbClr val="000000"/>
                        </a:buClr>
                        <a:buSzPts val="1400"/>
                        <a:buFont typeface="Arial"/>
                        <a:buNone/>
                      </a:pPr>
                      <a:r>
                        <a:rPr b="1" lang="es-419" sz="1400" u="none" cap="none" strike="noStrike">
                          <a:solidFill>
                            <a:srgbClr val="333333"/>
                          </a:solidFill>
                        </a:rPr>
                        <a:t>Properties</a:t>
                      </a:r>
                      <a:endParaRPr b="1" sz="1400" u="none" cap="none" strike="noStrike">
                        <a:solidFill>
                          <a:srgbClr val="333333"/>
                        </a:solidFill>
                      </a:endParaRPr>
                    </a:p>
                    <a:p>
                      <a:pPr indent="0" lvl="0" marL="0" marR="0" rtl="0" algn="l">
                        <a:lnSpc>
                          <a:spcPct val="100000"/>
                        </a:lnSpc>
                        <a:spcBef>
                          <a:spcPts val="0"/>
                        </a:spcBef>
                        <a:spcAft>
                          <a:spcPts val="0"/>
                        </a:spcAft>
                        <a:buClr>
                          <a:srgbClr val="000000"/>
                        </a:buClr>
                        <a:buSzPts val="1400"/>
                        <a:buFont typeface="Arial"/>
                        <a:buNone/>
                      </a:pPr>
                      <a:r>
                        <a:t/>
                      </a:r>
                      <a:endParaRPr b="1"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solidFill>
                            <a:srgbClr val="333333"/>
                          </a:solidFill>
                        </a:rPr>
                        <a:t>SMC</a:t>
                      </a:r>
                      <a:endParaRPr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solidFill>
                            <a:srgbClr val="333333"/>
                          </a:solidFill>
                        </a:rPr>
                        <a:t>Galaxy </a:t>
                      </a:r>
                      <a:r>
                        <a:rPr b="1" lang="es-419" sz="1400" u="none" cap="none" strike="noStrike">
                          <a:solidFill>
                            <a:srgbClr val="333333"/>
                          </a:solidFill>
                        </a:rPr>
                        <a:t>746855</a:t>
                      </a:r>
                      <a:endParaRPr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solidFill>
                            <a:srgbClr val="333333"/>
                          </a:solidFill>
                        </a:rPr>
                        <a:t>Galaxy </a:t>
                      </a:r>
                      <a:endParaRPr sz="1400" u="none" cap="none" strike="noStrike">
                        <a:solidFill>
                          <a:srgbClr val="333333"/>
                        </a:solidFill>
                      </a:endParaRPr>
                    </a:p>
                    <a:p>
                      <a:pPr indent="0" lvl="0" marL="0" marR="0" rtl="0" algn="l">
                        <a:lnSpc>
                          <a:spcPct val="100000"/>
                        </a:lnSpc>
                        <a:spcBef>
                          <a:spcPts val="0"/>
                        </a:spcBef>
                        <a:spcAft>
                          <a:spcPts val="0"/>
                        </a:spcAft>
                        <a:buClr>
                          <a:srgbClr val="000000"/>
                        </a:buClr>
                        <a:buSzPts val="1400"/>
                        <a:buFont typeface="Arial"/>
                        <a:buNone/>
                      </a:pPr>
                      <a:r>
                        <a:rPr b="1" lang="es-419" sz="1400" u="none" cap="none" strike="noStrike">
                          <a:solidFill>
                            <a:srgbClr val="333333"/>
                          </a:solidFill>
                        </a:rPr>
                        <a:t>767614</a:t>
                      </a:r>
                      <a:endParaRPr b="1"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r>
              <a:tr h="605775">
                <a:tc>
                  <a:txBody>
                    <a:bodyPr/>
                    <a:lstStyle/>
                    <a:p>
                      <a:pPr indent="0" lvl="0" marL="0" marR="0" rtl="0" algn="l">
                        <a:lnSpc>
                          <a:spcPct val="100000"/>
                        </a:lnSpc>
                        <a:spcBef>
                          <a:spcPts val="0"/>
                        </a:spcBef>
                        <a:spcAft>
                          <a:spcPts val="0"/>
                        </a:spcAft>
                        <a:buClr>
                          <a:srgbClr val="000000"/>
                        </a:buClr>
                        <a:buSzPts val="1400"/>
                        <a:buFont typeface="Arial"/>
                        <a:buNone/>
                      </a:pPr>
                      <a:r>
                        <a:rPr b="1" lang="es-419" sz="1400" u="none" cap="none" strike="noStrike">
                          <a:solidFill>
                            <a:srgbClr val="333333"/>
                          </a:solidFill>
                        </a:rPr>
                        <a:t>Stellar Mass</a:t>
                      </a:r>
                      <a:endParaRPr b="1" sz="1400" u="none" cap="none" strike="noStrike">
                        <a:solidFill>
                          <a:srgbClr val="333333"/>
                        </a:solidFill>
                      </a:endParaRPr>
                    </a:p>
                    <a:p>
                      <a:pPr indent="0" lvl="0" marL="0" marR="0" rtl="0" algn="l">
                        <a:lnSpc>
                          <a:spcPct val="100000"/>
                        </a:lnSpc>
                        <a:spcBef>
                          <a:spcPts val="0"/>
                        </a:spcBef>
                        <a:spcAft>
                          <a:spcPts val="0"/>
                        </a:spcAft>
                        <a:buClr>
                          <a:srgbClr val="000000"/>
                        </a:buClr>
                        <a:buSzPts val="1400"/>
                        <a:buFont typeface="Arial"/>
                        <a:buNone/>
                      </a:pPr>
                      <a:r>
                        <a:rPr b="1" lang="es-419" sz="1400" u="none" cap="none" strike="noStrike">
                          <a:solidFill>
                            <a:srgbClr val="333333"/>
                          </a:solidFill>
                        </a:rPr>
                        <a:t>log(M⊙)</a:t>
                      </a:r>
                      <a:endParaRPr b="1"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solidFill>
                            <a:srgbClr val="333333"/>
                          </a:solidFill>
                        </a:rPr>
                        <a:t>~8.5</a:t>
                      </a:r>
                      <a:endParaRPr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solidFill>
                            <a:srgbClr val="333333"/>
                          </a:solidFill>
                        </a:rPr>
                        <a:t>~ 8.6</a:t>
                      </a:r>
                      <a:endParaRPr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solidFill>
                            <a:srgbClr val="333333"/>
                          </a:solidFill>
                        </a:rPr>
                        <a:t>~8.3</a:t>
                      </a:r>
                      <a:endParaRPr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r>
              <a:tr h="582525">
                <a:tc>
                  <a:txBody>
                    <a:bodyPr/>
                    <a:lstStyle/>
                    <a:p>
                      <a:pPr indent="0" lvl="0" marL="0" marR="0" rtl="0" algn="l">
                        <a:lnSpc>
                          <a:spcPct val="100000"/>
                        </a:lnSpc>
                        <a:spcBef>
                          <a:spcPts val="0"/>
                        </a:spcBef>
                        <a:spcAft>
                          <a:spcPts val="0"/>
                        </a:spcAft>
                        <a:buClr>
                          <a:schemeClr val="dk1"/>
                        </a:buClr>
                        <a:buSzPts val="1100"/>
                        <a:buFont typeface="Arial"/>
                        <a:buNone/>
                      </a:pPr>
                      <a:r>
                        <a:rPr b="1" lang="es-419" sz="1400" u="none" cap="none" strike="noStrike">
                          <a:solidFill>
                            <a:srgbClr val="333333"/>
                          </a:solidFill>
                        </a:rPr>
                        <a:t>Maximum Stellar Metallicity</a:t>
                      </a:r>
                      <a:endParaRPr b="1" sz="1400" u="none" cap="none" strike="noStrike">
                        <a:solidFill>
                          <a:srgbClr val="333333"/>
                        </a:solidFill>
                      </a:endParaRPr>
                    </a:p>
                    <a:p>
                      <a:pPr indent="0" lvl="0" marL="0" marR="0" rtl="0" algn="l">
                        <a:lnSpc>
                          <a:spcPct val="100000"/>
                        </a:lnSpc>
                        <a:spcBef>
                          <a:spcPts val="0"/>
                        </a:spcBef>
                        <a:spcAft>
                          <a:spcPts val="0"/>
                        </a:spcAft>
                        <a:buClr>
                          <a:schemeClr val="dk1"/>
                        </a:buClr>
                        <a:buSzPts val="1100"/>
                        <a:buFont typeface="Arial"/>
                        <a:buNone/>
                      </a:pPr>
                      <a:r>
                        <a:rPr b="1" lang="es-419" sz="1400" u="none" cap="none" strike="noStrike">
                          <a:solidFill>
                            <a:srgbClr val="333333"/>
                          </a:solidFill>
                        </a:rPr>
                        <a:t>[Fe/H]</a:t>
                      </a:r>
                      <a:endParaRPr b="1"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solidFill>
                            <a:srgbClr val="333333"/>
                          </a:solidFill>
                        </a:rPr>
                        <a:t>-0.5</a:t>
                      </a:r>
                      <a:endParaRPr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solidFill>
                            <a:srgbClr val="333333"/>
                          </a:solidFill>
                        </a:rPr>
                        <a:t>~ -0.5</a:t>
                      </a:r>
                      <a:endParaRPr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solidFill>
                            <a:srgbClr val="333333"/>
                          </a:solidFill>
                        </a:rPr>
                        <a:t>~ -0.5</a:t>
                      </a:r>
                      <a:endParaRPr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r>
              <a:tr h="582525">
                <a:tc>
                  <a:txBody>
                    <a:bodyPr/>
                    <a:lstStyle/>
                    <a:p>
                      <a:pPr indent="0" lvl="0" marL="0" marR="0" rtl="0" algn="l">
                        <a:lnSpc>
                          <a:spcPct val="100000"/>
                        </a:lnSpc>
                        <a:spcBef>
                          <a:spcPts val="0"/>
                        </a:spcBef>
                        <a:spcAft>
                          <a:spcPts val="0"/>
                        </a:spcAft>
                        <a:buClr>
                          <a:srgbClr val="000000"/>
                        </a:buClr>
                        <a:buSzPts val="1400"/>
                        <a:buFont typeface="Arial"/>
                        <a:buNone/>
                      </a:pPr>
                      <a:r>
                        <a:rPr b="1" lang="es-419" sz="1400" u="none" cap="none" strike="noStrike">
                          <a:solidFill>
                            <a:srgbClr val="333333"/>
                          </a:solidFill>
                        </a:rPr>
                        <a:t>SFE (Gyr⁻¹)</a:t>
                      </a:r>
                      <a:endParaRPr b="1"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solidFill>
                            <a:srgbClr val="333333"/>
                          </a:solidFill>
                        </a:rPr>
                        <a:t>~0.01</a:t>
                      </a:r>
                      <a:endParaRPr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solidFill>
                            <a:srgbClr val="333333"/>
                          </a:solidFill>
                        </a:rPr>
                        <a:t>~0.02</a:t>
                      </a:r>
                      <a:endParaRPr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solidFill>
                            <a:srgbClr val="333333"/>
                          </a:solidFill>
                        </a:rPr>
                        <a:t>~0.007</a:t>
                      </a:r>
                      <a:endParaRPr sz="1400" u="none" cap="none" strike="noStrike">
                        <a:solidFill>
                          <a:srgbClr val="333333"/>
                        </a:solidFill>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solidFill>
                      <a:srgbClr val="F8F9FA"/>
                    </a:solidFill>
                  </a:tcPr>
                </a:tc>
              </a:tr>
            </a:tbl>
          </a:graphicData>
        </a:graphic>
      </p:graphicFrame>
      <p:pic>
        <p:nvPicPr>
          <p:cNvPr id="233" name="Google Shape;233;p17"/>
          <p:cNvPicPr preferRelativeResize="0"/>
          <p:nvPr/>
        </p:nvPicPr>
        <p:blipFill rotWithShape="1">
          <a:blip r:embed="rId4">
            <a:alphaModFix/>
          </a:blip>
          <a:srcRect b="1262" l="5021" r="6880" t="4423"/>
          <a:stretch/>
        </p:blipFill>
        <p:spPr>
          <a:xfrm>
            <a:off x="247400" y="1289575"/>
            <a:ext cx="4419675" cy="28387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8"/>
          <p:cNvSpPr/>
          <p:nvPr/>
        </p:nvSpPr>
        <p:spPr>
          <a:xfrm>
            <a:off x="0" y="0"/>
            <a:ext cx="9418320" cy="5482971"/>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239" name="Google Shape;239;p18"/>
          <p:cNvSpPr txBox="1"/>
          <p:nvPr>
            <p:ph type="ctrTitle"/>
          </p:nvPr>
        </p:nvSpPr>
        <p:spPr>
          <a:xfrm>
            <a:off x="491076" y="1920650"/>
            <a:ext cx="7852500" cy="1624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s-419" sz="4000">
                <a:solidFill>
                  <a:schemeClr val="lt1"/>
                </a:solidFill>
              </a:rPr>
              <a:t>SMC-likes in TNG50</a:t>
            </a:r>
            <a:endParaRPr sz="4000">
              <a:solidFill>
                <a:schemeClr val="lt1"/>
              </a:solidFill>
            </a:endParaRPr>
          </a:p>
        </p:txBody>
      </p:sp>
      <p:sp>
        <p:nvSpPr>
          <p:cNvPr id="240" name="Google Shape;240;p18"/>
          <p:cNvSpPr txBox="1"/>
          <p:nvPr>
            <p:ph idx="1" type="subTitle"/>
          </p:nvPr>
        </p:nvSpPr>
        <p:spPr>
          <a:xfrm>
            <a:off x="234350" y="3545150"/>
            <a:ext cx="8520600" cy="1405200"/>
          </a:xfrm>
          <a:prstGeom prst="rect">
            <a:avLst/>
          </a:prstGeom>
          <a:noFill/>
          <a:ln>
            <a:noFill/>
          </a:ln>
        </p:spPr>
        <p:txBody>
          <a:bodyPr anchorCtr="0" anchor="t" bIns="91425" lIns="91425" spcFirstLastPara="1" rIns="91425" wrap="square" tIns="91425">
            <a:normAutofit fontScale="62500"/>
          </a:bodyPr>
          <a:lstStyle/>
          <a:p>
            <a:pPr indent="0" lvl="0" marL="0" rtl="0" algn="ctr">
              <a:lnSpc>
                <a:spcPct val="100000"/>
              </a:lnSpc>
              <a:spcBef>
                <a:spcPts val="0"/>
              </a:spcBef>
              <a:spcAft>
                <a:spcPts val="0"/>
              </a:spcAft>
              <a:buSzPct val="160000"/>
              <a:buNone/>
            </a:pPr>
            <a:r>
              <a:rPr lang="es-419">
                <a:solidFill>
                  <a:srgbClr val="FFFFFF"/>
                </a:solidFill>
              </a:rPr>
              <a:t>-Galaxies which resulted the most interesting among the candidates in the filter.</a:t>
            </a:r>
            <a:endParaRPr>
              <a:solidFill>
                <a:srgbClr val="FFFFFF"/>
              </a:solidFill>
            </a:endParaRPr>
          </a:p>
          <a:p>
            <a:pPr indent="0" lvl="0" marL="0" rtl="0" algn="ctr">
              <a:lnSpc>
                <a:spcPct val="100000"/>
              </a:lnSpc>
              <a:spcBef>
                <a:spcPts val="0"/>
              </a:spcBef>
              <a:spcAft>
                <a:spcPts val="0"/>
              </a:spcAft>
              <a:buSzPct val="160000"/>
              <a:buNone/>
            </a:pPr>
            <a:r>
              <a:rPr lang="es-419">
                <a:solidFill>
                  <a:srgbClr val="FFFFFF"/>
                </a:solidFill>
              </a:rPr>
              <a:t>-The filter only allowing galaxies between a stellar mass of 8.495 and 8.505.</a:t>
            </a:r>
            <a:endParaRPr>
              <a:solidFill>
                <a:srgbClr val="FFFFFF"/>
              </a:solidFill>
            </a:endParaRPr>
          </a:p>
          <a:p>
            <a:pPr indent="0" lvl="0" marL="0" rtl="0" algn="ctr">
              <a:lnSpc>
                <a:spcPct val="100000"/>
              </a:lnSpc>
              <a:spcBef>
                <a:spcPts val="0"/>
              </a:spcBef>
              <a:spcAft>
                <a:spcPts val="0"/>
              </a:spcAft>
              <a:buSzPct val="160000"/>
              <a:buNone/>
            </a:pPr>
            <a:r>
              <a:rPr lang="es-419">
                <a:solidFill>
                  <a:srgbClr val="FFFFFF"/>
                </a:solidFill>
              </a:rPr>
              <a:t>-It also restricts to galaxies with a low SFE, between 0.005 and 0.0015.</a:t>
            </a:r>
            <a:endParaRPr>
              <a:solidFill>
                <a:srgbClr val="FFFFFF"/>
              </a:solidFill>
            </a:endParaRPr>
          </a:p>
          <a:p>
            <a:pPr indent="0" lvl="0" marL="0" rtl="0" algn="ctr">
              <a:lnSpc>
                <a:spcPct val="100000"/>
              </a:lnSpc>
              <a:spcBef>
                <a:spcPts val="0"/>
              </a:spcBef>
              <a:spcAft>
                <a:spcPts val="0"/>
              </a:spcAft>
              <a:buSzPct val="160000"/>
              <a:buNone/>
            </a:pPr>
            <a:r>
              <a:rPr lang="es-419">
                <a:solidFill>
                  <a:srgbClr val="FFFFFF"/>
                </a:solidFill>
              </a:rPr>
              <a:t>-They can give us a unique perspective to look at the SMC.</a:t>
            </a:r>
            <a:endParaRPr>
              <a:solidFill>
                <a:srgbClr val="FFFFFF"/>
              </a:solidFill>
            </a:endParaRPr>
          </a:p>
        </p:txBody>
      </p:sp>
      <p:pic>
        <p:nvPicPr>
          <p:cNvPr id="241" name="Google Shape;241;p18"/>
          <p:cNvPicPr preferRelativeResize="0"/>
          <p:nvPr/>
        </p:nvPicPr>
        <p:blipFill rotWithShape="1">
          <a:blip r:embed="rId4">
            <a:alphaModFix/>
          </a:blip>
          <a:srcRect b="13268" l="12191" r="67050" t="13987"/>
          <a:stretch/>
        </p:blipFill>
        <p:spPr>
          <a:xfrm>
            <a:off x="6799250" y="670300"/>
            <a:ext cx="1621650" cy="1250450"/>
          </a:xfrm>
          <a:prstGeom prst="rect">
            <a:avLst/>
          </a:prstGeom>
          <a:noFill/>
          <a:ln>
            <a:noFill/>
          </a:ln>
        </p:spPr>
      </p:pic>
      <p:sp>
        <p:nvSpPr>
          <p:cNvPr id="242" name="Google Shape;242;p18"/>
          <p:cNvSpPr txBox="1"/>
          <p:nvPr/>
        </p:nvSpPr>
        <p:spPr>
          <a:xfrm>
            <a:off x="3686825" y="3083550"/>
            <a:ext cx="5375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243" name="Google Shape;243;p18"/>
          <p:cNvPicPr preferRelativeResize="0"/>
          <p:nvPr/>
        </p:nvPicPr>
        <p:blipFill rotWithShape="1">
          <a:blip r:embed="rId5">
            <a:alphaModFix/>
          </a:blip>
          <a:srcRect b="11522" l="41054" r="38609" t="12823"/>
          <a:stretch/>
        </p:blipFill>
        <p:spPr>
          <a:xfrm>
            <a:off x="3643725" y="515650"/>
            <a:ext cx="1843401" cy="1714500"/>
          </a:xfrm>
          <a:prstGeom prst="rect">
            <a:avLst/>
          </a:prstGeom>
          <a:noFill/>
          <a:ln>
            <a:noFill/>
          </a:ln>
        </p:spPr>
      </p:pic>
      <p:pic>
        <p:nvPicPr>
          <p:cNvPr id="244" name="Google Shape;244;p18"/>
          <p:cNvPicPr preferRelativeResize="0"/>
          <p:nvPr/>
        </p:nvPicPr>
        <p:blipFill rotWithShape="1">
          <a:blip r:embed="rId6">
            <a:alphaModFix/>
          </a:blip>
          <a:srcRect b="17044" l="41468" r="39313" t="17039"/>
          <a:stretch/>
        </p:blipFill>
        <p:spPr>
          <a:xfrm>
            <a:off x="657425" y="515650"/>
            <a:ext cx="1674174" cy="143564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9"/>
          <p:cNvSpPr/>
          <p:nvPr/>
        </p:nvSpPr>
        <p:spPr>
          <a:xfrm>
            <a:off x="0" y="0"/>
            <a:ext cx="9464040" cy="5482971"/>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250" name="Google Shape;250;p19"/>
          <p:cNvSpPr txBox="1"/>
          <p:nvPr>
            <p:ph type="title"/>
          </p:nvPr>
        </p:nvSpPr>
        <p:spPr>
          <a:xfrm>
            <a:off x="5034950" y="31525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solidFill>
                  <a:schemeClr val="lt1"/>
                </a:solidFill>
              </a:rPr>
              <a:t>766230 and 793196</a:t>
            </a:r>
            <a:endParaRPr>
              <a:solidFill>
                <a:schemeClr val="lt1"/>
              </a:solidFill>
            </a:endParaRPr>
          </a:p>
        </p:txBody>
      </p:sp>
      <p:sp>
        <p:nvSpPr>
          <p:cNvPr id="251" name="Google Shape;251;p19"/>
          <p:cNvSpPr txBox="1"/>
          <p:nvPr>
            <p:ph idx="1" type="body"/>
          </p:nvPr>
        </p:nvSpPr>
        <p:spPr>
          <a:xfrm>
            <a:off x="414825" y="3867500"/>
            <a:ext cx="8520600" cy="13920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Clr>
                <a:schemeClr val="lt1"/>
              </a:buClr>
              <a:buSzPts val="1800"/>
              <a:buChar char="-"/>
            </a:pPr>
            <a:r>
              <a:rPr lang="es-419">
                <a:solidFill>
                  <a:schemeClr val="lt1"/>
                </a:solidFill>
              </a:rPr>
              <a:t>Two objects with very metal-poor knees, at ~-1.4 and ~-1.5</a:t>
            </a:r>
            <a:endParaRPr>
              <a:solidFill>
                <a:schemeClr val="lt1"/>
              </a:solidFill>
            </a:endParaRPr>
          </a:p>
          <a:p>
            <a:pPr indent="-342900" lvl="0" marL="457200" rtl="0" algn="l">
              <a:lnSpc>
                <a:spcPct val="115000"/>
              </a:lnSpc>
              <a:spcBef>
                <a:spcPts val="0"/>
              </a:spcBef>
              <a:spcAft>
                <a:spcPts val="0"/>
              </a:spcAft>
              <a:buClr>
                <a:schemeClr val="lt1"/>
              </a:buClr>
              <a:buSzPts val="1800"/>
              <a:buChar char="-"/>
            </a:pPr>
            <a:r>
              <a:rPr lang="es-419">
                <a:solidFill>
                  <a:schemeClr val="lt1"/>
                </a:solidFill>
              </a:rPr>
              <a:t>It has a similar absolute magnitude to the SMC’s -17. -17.17 and -16.77.</a:t>
            </a:r>
            <a:endParaRPr>
              <a:solidFill>
                <a:schemeClr val="lt1"/>
              </a:solidFill>
            </a:endParaRPr>
          </a:p>
          <a:p>
            <a:pPr indent="-342900" lvl="0" marL="457200" rtl="0" algn="l">
              <a:lnSpc>
                <a:spcPct val="115000"/>
              </a:lnSpc>
              <a:spcBef>
                <a:spcPts val="0"/>
              </a:spcBef>
              <a:spcAft>
                <a:spcPts val="0"/>
              </a:spcAft>
              <a:buClr>
                <a:schemeClr val="lt1"/>
              </a:buClr>
              <a:buSzPts val="1800"/>
              <a:buChar char="-"/>
            </a:pPr>
            <a:r>
              <a:rPr lang="es-419">
                <a:solidFill>
                  <a:schemeClr val="lt1"/>
                </a:solidFill>
              </a:rPr>
              <a:t>In visual terms, they present the expected shape of irregular galaxies such as the SMC.</a:t>
            </a:r>
            <a:endParaRPr>
              <a:solidFill>
                <a:schemeClr val="lt1"/>
              </a:solidFill>
            </a:endParaRPr>
          </a:p>
        </p:txBody>
      </p:sp>
      <p:pic>
        <p:nvPicPr>
          <p:cNvPr id="252" name="Google Shape;252;p19"/>
          <p:cNvPicPr preferRelativeResize="0"/>
          <p:nvPr/>
        </p:nvPicPr>
        <p:blipFill rotWithShape="1">
          <a:blip r:embed="rId4">
            <a:alphaModFix/>
          </a:blip>
          <a:srcRect b="0" l="0" r="0" t="0"/>
          <a:stretch/>
        </p:blipFill>
        <p:spPr>
          <a:xfrm>
            <a:off x="5111150" y="84950"/>
            <a:ext cx="3900475" cy="2925350"/>
          </a:xfrm>
          <a:prstGeom prst="rect">
            <a:avLst/>
          </a:prstGeom>
          <a:noFill/>
          <a:ln>
            <a:noFill/>
          </a:ln>
        </p:spPr>
      </p:pic>
      <p:pic>
        <p:nvPicPr>
          <p:cNvPr id="253" name="Google Shape;253;p19"/>
          <p:cNvPicPr preferRelativeResize="0"/>
          <p:nvPr/>
        </p:nvPicPr>
        <p:blipFill rotWithShape="1">
          <a:blip r:embed="rId5">
            <a:alphaModFix/>
          </a:blip>
          <a:srcRect b="0" l="9603" r="36951" t="0"/>
          <a:stretch/>
        </p:blipFill>
        <p:spPr>
          <a:xfrm>
            <a:off x="658050" y="2020925"/>
            <a:ext cx="3982701" cy="1506400"/>
          </a:xfrm>
          <a:prstGeom prst="rect">
            <a:avLst/>
          </a:prstGeom>
          <a:noFill/>
          <a:ln>
            <a:noFill/>
          </a:ln>
        </p:spPr>
      </p:pic>
      <p:pic>
        <p:nvPicPr>
          <p:cNvPr id="254" name="Google Shape;254;p19"/>
          <p:cNvPicPr preferRelativeResize="0"/>
          <p:nvPr/>
        </p:nvPicPr>
        <p:blipFill rotWithShape="1">
          <a:blip r:embed="rId6">
            <a:alphaModFix/>
          </a:blip>
          <a:srcRect b="0" l="5706" r="35510" t="0"/>
          <a:stretch/>
        </p:blipFill>
        <p:spPr>
          <a:xfrm>
            <a:off x="658050" y="257825"/>
            <a:ext cx="3982701" cy="16938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0"/>
          <p:cNvSpPr/>
          <p:nvPr/>
        </p:nvSpPr>
        <p:spPr>
          <a:xfrm>
            <a:off x="0" y="0"/>
            <a:ext cx="18288000" cy="12184380"/>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260" name="Google Shape;260;p20"/>
          <p:cNvSpPr txBox="1"/>
          <p:nvPr>
            <p:ph type="title"/>
          </p:nvPr>
        </p:nvSpPr>
        <p:spPr>
          <a:xfrm>
            <a:off x="2189388" y="3039513"/>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solidFill>
                  <a:schemeClr val="lt1"/>
                </a:solidFill>
              </a:rPr>
              <a:t>SMC’s ‘virtual twin’: 768720</a:t>
            </a:r>
            <a:endParaRPr>
              <a:solidFill>
                <a:schemeClr val="lt1"/>
              </a:solidFill>
            </a:endParaRPr>
          </a:p>
        </p:txBody>
      </p:sp>
      <p:sp>
        <p:nvSpPr>
          <p:cNvPr id="261" name="Google Shape;261;p20"/>
          <p:cNvSpPr txBox="1"/>
          <p:nvPr>
            <p:ph idx="1" type="body"/>
          </p:nvPr>
        </p:nvSpPr>
        <p:spPr>
          <a:xfrm>
            <a:off x="311700" y="3686825"/>
            <a:ext cx="8520600" cy="13278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Clr>
                <a:schemeClr val="lt1"/>
              </a:buClr>
              <a:buSzPts val="1800"/>
              <a:buChar char="-"/>
            </a:pPr>
            <a:r>
              <a:rPr lang="es-419">
                <a:solidFill>
                  <a:schemeClr val="lt1"/>
                </a:solidFill>
              </a:rPr>
              <a:t>It looks very similar to the SMC in visual terms.</a:t>
            </a:r>
            <a:endParaRPr>
              <a:solidFill>
                <a:schemeClr val="lt1"/>
              </a:solidFill>
            </a:endParaRPr>
          </a:p>
          <a:p>
            <a:pPr indent="-342900" lvl="0" marL="457200" rtl="0" algn="l">
              <a:lnSpc>
                <a:spcPct val="115000"/>
              </a:lnSpc>
              <a:spcBef>
                <a:spcPts val="0"/>
              </a:spcBef>
              <a:spcAft>
                <a:spcPts val="0"/>
              </a:spcAft>
              <a:buClr>
                <a:schemeClr val="lt1"/>
              </a:buClr>
              <a:buSzPts val="1800"/>
              <a:buChar char="-"/>
            </a:pPr>
            <a:r>
              <a:rPr lang="es-419">
                <a:solidFill>
                  <a:schemeClr val="lt1"/>
                </a:solidFill>
              </a:rPr>
              <a:t>It has an absolute magnitude of -17.03, making it the closest to SMC’s -17</a:t>
            </a:r>
            <a:endParaRPr>
              <a:solidFill>
                <a:schemeClr val="lt1"/>
              </a:solidFill>
            </a:endParaRPr>
          </a:p>
          <a:p>
            <a:pPr indent="-342900" lvl="0" marL="457200" rtl="0" algn="l">
              <a:lnSpc>
                <a:spcPct val="115000"/>
              </a:lnSpc>
              <a:spcBef>
                <a:spcPts val="0"/>
              </a:spcBef>
              <a:spcAft>
                <a:spcPts val="0"/>
              </a:spcAft>
              <a:buClr>
                <a:schemeClr val="lt1"/>
              </a:buClr>
              <a:buSzPts val="1800"/>
              <a:buChar char="-"/>
            </a:pPr>
            <a:r>
              <a:rPr lang="es-419">
                <a:solidFill>
                  <a:schemeClr val="lt1"/>
                </a:solidFill>
              </a:rPr>
              <a:t>It shows a knee at -1.55 [Fe/H], making it the most metal-poor of the three.</a:t>
            </a:r>
            <a:endParaRPr>
              <a:solidFill>
                <a:schemeClr val="lt1"/>
              </a:solidFill>
            </a:endParaRPr>
          </a:p>
          <a:p>
            <a:pPr indent="-342900" lvl="0" marL="457200" rtl="0" algn="l">
              <a:lnSpc>
                <a:spcPct val="115000"/>
              </a:lnSpc>
              <a:spcBef>
                <a:spcPts val="0"/>
              </a:spcBef>
              <a:spcAft>
                <a:spcPts val="0"/>
              </a:spcAft>
              <a:buClr>
                <a:schemeClr val="lt1"/>
              </a:buClr>
              <a:buSzPts val="1800"/>
              <a:buChar char="-"/>
            </a:pPr>
            <a:r>
              <a:rPr lang="es-419">
                <a:solidFill>
                  <a:schemeClr val="lt1"/>
                </a:solidFill>
              </a:rPr>
              <a:t>In terms of size, it is close to the dimensions of the SMC.</a:t>
            </a:r>
            <a:endParaRPr>
              <a:solidFill>
                <a:schemeClr val="lt1"/>
              </a:solidFill>
            </a:endParaRPr>
          </a:p>
        </p:txBody>
      </p:sp>
      <p:pic>
        <p:nvPicPr>
          <p:cNvPr id="262" name="Google Shape;262;p20"/>
          <p:cNvPicPr preferRelativeResize="0"/>
          <p:nvPr/>
        </p:nvPicPr>
        <p:blipFill rotWithShape="1">
          <a:blip r:embed="rId4">
            <a:alphaModFix/>
          </a:blip>
          <a:srcRect b="0" l="11316" r="37754" t="0"/>
          <a:stretch/>
        </p:blipFill>
        <p:spPr>
          <a:xfrm>
            <a:off x="4215425" y="343263"/>
            <a:ext cx="4616874" cy="2266275"/>
          </a:xfrm>
          <a:prstGeom prst="rect">
            <a:avLst/>
          </a:prstGeom>
          <a:noFill/>
          <a:ln>
            <a:noFill/>
          </a:ln>
        </p:spPr>
      </p:pic>
      <p:pic>
        <p:nvPicPr>
          <p:cNvPr id="263" name="Google Shape;263;p20"/>
          <p:cNvPicPr preferRelativeResize="0"/>
          <p:nvPr/>
        </p:nvPicPr>
        <p:blipFill rotWithShape="1">
          <a:blip r:embed="rId5">
            <a:alphaModFix/>
          </a:blip>
          <a:srcRect b="0" l="0" r="0" t="0"/>
          <a:stretch/>
        </p:blipFill>
        <p:spPr>
          <a:xfrm>
            <a:off x="474700" y="149425"/>
            <a:ext cx="2998814" cy="2653950"/>
          </a:xfrm>
          <a:prstGeom prst="rect">
            <a:avLst/>
          </a:prstGeom>
          <a:noFill/>
          <a:ln>
            <a:noFill/>
          </a:ln>
        </p:spPr>
      </p:pic>
      <p:sp>
        <p:nvSpPr>
          <p:cNvPr id="264" name="Google Shape;264;p20"/>
          <p:cNvSpPr txBox="1"/>
          <p:nvPr/>
        </p:nvSpPr>
        <p:spPr>
          <a:xfrm>
            <a:off x="665100" y="7015754"/>
            <a:ext cx="7425300" cy="463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265" name="Google Shape;265;p20"/>
          <p:cNvSpPr/>
          <p:nvPr/>
        </p:nvSpPr>
        <p:spPr>
          <a:xfrm>
            <a:off x="665100" y="127800"/>
            <a:ext cx="2998800" cy="2654100"/>
          </a:xfrm>
          <a:prstGeom prst="rect">
            <a:avLst/>
          </a:pr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20"/>
          <p:cNvSpPr txBox="1"/>
          <p:nvPr/>
        </p:nvSpPr>
        <p:spPr>
          <a:xfrm flipH="1" rot="10800000">
            <a:off x="-4322850" y="-333894"/>
            <a:ext cx="74253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267" name="Google Shape;267;p20"/>
          <p:cNvSpPr txBox="1"/>
          <p:nvPr/>
        </p:nvSpPr>
        <p:spPr>
          <a:xfrm>
            <a:off x="665100" y="2064475"/>
            <a:ext cx="29988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419" sz="1800" u="none" cap="none" strike="noStrike">
                <a:solidFill>
                  <a:schemeClr val="lt1"/>
                </a:solidFill>
                <a:latin typeface="Arial"/>
                <a:ea typeface="Arial"/>
                <a:cs typeface="Arial"/>
                <a:sym typeface="Arial"/>
              </a:rPr>
              <a:t>Image taken by VISTA, operated by the ESO.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1"/>
          <p:cNvSpPr/>
          <p:nvPr/>
        </p:nvSpPr>
        <p:spPr>
          <a:xfrm>
            <a:off x="0" y="0"/>
            <a:ext cx="18288000" cy="12184380"/>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273" name="Google Shape;273;p21"/>
          <p:cNvSpPr txBox="1"/>
          <p:nvPr>
            <p:ph type="title"/>
          </p:nvPr>
        </p:nvSpPr>
        <p:spPr>
          <a:xfrm>
            <a:off x="1066800" y="2959400"/>
            <a:ext cx="8763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solidFill>
                  <a:schemeClr val="lt1"/>
                </a:solidFill>
              </a:rPr>
              <a:t>The hidden similarity within the three SMC-likes</a:t>
            </a:r>
            <a:endParaRPr>
              <a:solidFill>
                <a:schemeClr val="lt1"/>
              </a:solidFill>
            </a:endParaRPr>
          </a:p>
        </p:txBody>
      </p:sp>
      <p:sp>
        <p:nvSpPr>
          <p:cNvPr id="274" name="Google Shape;274;p21"/>
          <p:cNvSpPr txBox="1"/>
          <p:nvPr>
            <p:ph idx="1" type="body"/>
          </p:nvPr>
        </p:nvSpPr>
        <p:spPr>
          <a:xfrm>
            <a:off x="831600" y="3532100"/>
            <a:ext cx="8312400" cy="1263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419">
                <a:solidFill>
                  <a:schemeClr val="lt1"/>
                </a:solidFill>
              </a:rPr>
              <a:t>-These three SMC-likes share an important aspect: They are not satellite galaxies.</a:t>
            </a:r>
            <a:endParaRPr>
              <a:solidFill>
                <a:schemeClr val="lt1"/>
              </a:solidFill>
            </a:endParaRPr>
          </a:p>
          <a:p>
            <a:pPr indent="0" lvl="0" marL="0" rtl="0" algn="l">
              <a:lnSpc>
                <a:spcPct val="115000"/>
              </a:lnSpc>
              <a:spcBef>
                <a:spcPts val="1200"/>
              </a:spcBef>
              <a:spcAft>
                <a:spcPts val="1200"/>
              </a:spcAft>
              <a:buSzPts val="1800"/>
              <a:buNone/>
            </a:pPr>
            <a:r>
              <a:rPr lang="es-419">
                <a:solidFill>
                  <a:schemeClr val="lt1"/>
                </a:solidFill>
              </a:rPr>
              <a:t>-The implicances of this information should be studied in-depth, as it could be an indicator of a trend in SMC-likes.</a:t>
            </a:r>
            <a:endParaRPr>
              <a:solidFill>
                <a:schemeClr val="lt1"/>
              </a:solidFill>
            </a:endParaRPr>
          </a:p>
        </p:txBody>
      </p:sp>
      <p:pic>
        <p:nvPicPr>
          <p:cNvPr id="275" name="Google Shape;275;p21"/>
          <p:cNvPicPr preferRelativeResize="0"/>
          <p:nvPr/>
        </p:nvPicPr>
        <p:blipFill rotWithShape="1">
          <a:blip r:embed="rId4">
            <a:alphaModFix/>
          </a:blip>
          <a:srcRect b="0" l="0" r="0" t="0"/>
          <a:stretch/>
        </p:blipFill>
        <p:spPr>
          <a:xfrm>
            <a:off x="2450938" y="201063"/>
            <a:ext cx="4242125" cy="2701026"/>
          </a:xfrm>
          <a:prstGeom prst="rect">
            <a:avLst/>
          </a:prstGeom>
          <a:noFill/>
          <a:ln>
            <a:noFill/>
          </a:ln>
        </p:spPr>
      </p:pic>
      <p:sp>
        <p:nvSpPr>
          <p:cNvPr id="276" name="Google Shape;276;p21"/>
          <p:cNvSpPr/>
          <p:nvPr/>
        </p:nvSpPr>
        <p:spPr>
          <a:xfrm>
            <a:off x="2451075" y="224525"/>
            <a:ext cx="4242000" cy="2654100"/>
          </a:xfrm>
          <a:prstGeom prst="rect">
            <a:avLst/>
          </a:pr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21"/>
          <p:cNvSpPr txBox="1"/>
          <p:nvPr/>
        </p:nvSpPr>
        <p:spPr>
          <a:xfrm>
            <a:off x="2450550" y="2139725"/>
            <a:ext cx="5996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419" sz="1800" u="none" cap="none" strike="noStrike">
                <a:solidFill>
                  <a:srgbClr val="F8F9FA"/>
                </a:solidFill>
                <a:latin typeface="Arial"/>
                <a:ea typeface="Arial"/>
                <a:cs typeface="Arial"/>
                <a:sym typeface="Arial"/>
              </a:rPr>
              <a:t>Image taken by S. Bruiner, from the</a:t>
            </a:r>
            <a:endParaRPr b="0" i="0" sz="1800" u="none" cap="none" strike="noStrike">
              <a:solidFill>
                <a:srgbClr val="F8F9F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419" sz="1800" u="none" cap="none" strike="noStrike">
                <a:solidFill>
                  <a:srgbClr val="F8F9FA"/>
                </a:solidFill>
                <a:latin typeface="Arial"/>
                <a:ea typeface="Arial"/>
                <a:cs typeface="Arial"/>
                <a:sym typeface="Arial"/>
              </a:rPr>
              <a:t>ESO.</a:t>
            </a:r>
            <a:endParaRPr b="0" i="0" sz="1800" u="none" cap="none" strike="noStrike">
              <a:solidFill>
                <a:srgbClr val="F8F9FA"/>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2"/>
          <p:cNvSpPr/>
          <p:nvPr/>
        </p:nvSpPr>
        <p:spPr>
          <a:xfrm>
            <a:off x="0" y="0"/>
            <a:ext cx="18288000" cy="12184380"/>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283" name="Google Shape;283;p22"/>
          <p:cNvSpPr txBox="1"/>
          <p:nvPr>
            <p:ph type="title"/>
          </p:nvPr>
        </p:nvSpPr>
        <p:spPr>
          <a:xfrm>
            <a:off x="2258700" y="1077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s-419" sz="1800">
                <a:solidFill>
                  <a:schemeClr val="lt1"/>
                </a:solidFill>
              </a:rPr>
              <a:t>Galaxy 768720: Similar to SMC</a:t>
            </a:r>
            <a:endParaRPr>
              <a:solidFill>
                <a:schemeClr val="lt1"/>
              </a:solidFill>
            </a:endParaRPr>
          </a:p>
        </p:txBody>
      </p:sp>
      <p:sp>
        <p:nvSpPr>
          <p:cNvPr id="284" name="Google Shape;284;p22"/>
          <p:cNvSpPr txBox="1"/>
          <p:nvPr/>
        </p:nvSpPr>
        <p:spPr>
          <a:xfrm>
            <a:off x="296175" y="2909750"/>
            <a:ext cx="3775800" cy="286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s-419" sz="1500" u="none" cap="none" strike="noStrike">
                <a:solidFill>
                  <a:schemeClr val="lt1"/>
                </a:solidFill>
                <a:latin typeface="Arial"/>
                <a:ea typeface="Arial"/>
                <a:cs typeface="Arial"/>
                <a:sym typeface="Arial"/>
              </a:rPr>
              <a:t>Morphology:</a:t>
            </a:r>
            <a:endParaRPr b="0" i="0" sz="15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s-419" sz="1500" u="none" cap="none" strike="noStrike">
                <a:solidFill>
                  <a:schemeClr val="lt1"/>
                </a:solidFill>
                <a:latin typeface="Arial"/>
                <a:ea typeface="Arial"/>
                <a:cs typeface="Arial"/>
                <a:sym typeface="Arial"/>
              </a:rPr>
              <a:t>- Irregular shape, similar to the SMC.</a:t>
            </a:r>
            <a:endParaRPr b="0" i="0" sz="15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s-419" sz="1500" u="none" cap="none" strike="noStrike">
                <a:solidFill>
                  <a:schemeClr val="lt1"/>
                </a:solidFill>
                <a:latin typeface="Arial"/>
                <a:ea typeface="Arial"/>
                <a:cs typeface="Arial"/>
                <a:sym typeface="Arial"/>
              </a:rPr>
              <a:t>- Star formation concentrated in the central core.</a:t>
            </a:r>
            <a:endParaRPr b="0" i="0" sz="15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s-419" sz="1500" u="none" cap="none" strike="noStrike">
                <a:solidFill>
                  <a:schemeClr val="lt1"/>
                </a:solidFill>
                <a:latin typeface="Arial"/>
                <a:ea typeface="Arial"/>
                <a:cs typeface="Arial"/>
                <a:sym typeface="Arial"/>
              </a:rPr>
              <a:t>Gas and Temperature:</a:t>
            </a:r>
            <a:endParaRPr b="0" i="0" sz="15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s-419" sz="1500" u="none" cap="none" strike="noStrike">
                <a:solidFill>
                  <a:schemeClr val="lt1"/>
                </a:solidFill>
                <a:latin typeface="Arial"/>
                <a:ea typeface="Arial"/>
                <a:cs typeface="Arial"/>
                <a:sym typeface="Arial"/>
              </a:rPr>
              <a:t>- Hot gas:                    in the core.</a:t>
            </a:r>
            <a:endParaRPr b="0" i="0" sz="15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s-419" sz="1500" u="none" cap="none" strike="noStrike">
                <a:solidFill>
                  <a:schemeClr val="lt1"/>
                </a:solidFill>
                <a:latin typeface="Arial"/>
                <a:ea typeface="Arial"/>
                <a:cs typeface="Arial"/>
                <a:sym typeface="Arial"/>
              </a:rPr>
              <a:t>- Cold gas:                  in the outskirts.</a:t>
            </a:r>
            <a:endParaRPr b="0" i="0" sz="15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p:txBody>
      </p:sp>
      <p:pic>
        <p:nvPicPr>
          <p:cNvPr id="285" name="Google Shape;285;p22" title="[255,255,255,&quot;https://www.codecogs.com/eqnedit.php?latex=T%20%3E%2010%5E6%20%5C%2C%20%5Cmathrm%7BK%7D#0&quot;]"/>
          <p:cNvPicPr preferRelativeResize="0"/>
          <p:nvPr/>
        </p:nvPicPr>
        <p:blipFill rotWithShape="1">
          <a:blip r:embed="rId4">
            <a:alphaModFix/>
          </a:blip>
          <a:srcRect b="0" l="0" r="0" t="0"/>
          <a:stretch/>
        </p:blipFill>
        <p:spPr>
          <a:xfrm>
            <a:off x="1321800" y="4436500"/>
            <a:ext cx="767307" cy="158750"/>
          </a:xfrm>
          <a:prstGeom prst="rect">
            <a:avLst/>
          </a:prstGeom>
          <a:noFill/>
          <a:ln>
            <a:noFill/>
          </a:ln>
        </p:spPr>
      </p:pic>
      <p:pic>
        <p:nvPicPr>
          <p:cNvPr id="286" name="Google Shape;286;p22" title="[255,255,255,&quot;https://www.codecogs.com/eqnedit.php?latex=T%20%5Csim%2010%5E4%20%5C%2C%20%5Cmathrm%7BK%7D#0&quot;]"/>
          <p:cNvPicPr preferRelativeResize="0"/>
          <p:nvPr/>
        </p:nvPicPr>
        <p:blipFill rotWithShape="1">
          <a:blip r:embed="rId5">
            <a:alphaModFix/>
          </a:blip>
          <a:srcRect b="0" l="0" r="0" t="0"/>
          <a:stretch/>
        </p:blipFill>
        <p:spPr>
          <a:xfrm>
            <a:off x="1321788" y="4673400"/>
            <a:ext cx="775573" cy="158750"/>
          </a:xfrm>
          <a:prstGeom prst="rect">
            <a:avLst/>
          </a:prstGeom>
          <a:noFill/>
          <a:ln>
            <a:noFill/>
          </a:ln>
        </p:spPr>
      </p:pic>
      <p:pic>
        <p:nvPicPr>
          <p:cNvPr id="287" name="Google Shape;287;p22" title="[255,255,255,&quot;https://www.codecogs.com/eqnedit.php?latex=Z%20%2F%20Z_%5Codot%20%3E%201#0&quot;]"/>
          <p:cNvPicPr preferRelativeResize="0"/>
          <p:nvPr/>
        </p:nvPicPr>
        <p:blipFill rotWithShape="1">
          <a:blip r:embed="rId6">
            <a:alphaModFix/>
          </a:blip>
          <a:srcRect b="0" l="0" r="0" t="0"/>
          <a:stretch/>
        </p:blipFill>
        <p:spPr>
          <a:xfrm>
            <a:off x="6197800" y="3339325"/>
            <a:ext cx="642408" cy="158750"/>
          </a:xfrm>
          <a:prstGeom prst="rect">
            <a:avLst/>
          </a:prstGeom>
          <a:noFill/>
          <a:ln>
            <a:noFill/>
          </a:ln>
        </p:spPr>
      </p:pic>
      <p:pic>
        <p:nvPicPr>
          <p:cNvPr id="288" name="Google Shape;288;p22" title="[255,255,255,&quot;https://www.codecogs.com/eqnedit.php?latex=Z%20%2F%20Z_%5Codot%20%5Csim%2010%5E%7B-2%7D#0&quot;]"/>
          <p:cNvPicPr preferRelativeResize="0"/>
          <p:nvPr/>
        </p:nvPicPr>
        <p:blipFill rotWithShape="1">
          <a:blip r:embed="rId7">
            <a:alphaModFix/>
          </a:blip>
          <a:srcRect b="0" l="0" r="0" t="0"/>
          <a:stretch/>
        </p:blipFill>
        <p:spPr>
          <a:xfrm>
            <a:off x="6773200" y="3576725"/>
            <a:ext cx="791825" cy="158750"/>
          </a:xfrm>
          <a:prstGeom prst="rect">
            <a:avLst/>
          </a:prstGeom>
          <a:noFill/>
          <a:ln>
            <a:noFill/>
          </a:ln>
        </p:spPr>
      </p:pic>
      <p:sp>
        <p:nvSpPr>
          <p:cNvPr id="289" name="Google Shape;289;p22"/>
          <p:cNvSpPr txBox="1"/>
          <p:nvPr/>
        </p:nvSpPr>
        <p:spPr>
          <a:xfrm>
            <a:off x="4410975" y="2982100"/>
            <a:ext cx="4578300" cy="216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s-419" sz="1500" u="none" cap="none" strike="noStrike">
                <a:solidFill>
                  <a:schemeClr val="lt1"/>
                </a:solidFill>
                <a:latin typeface="Arial"/>
                <a:ea typeface="Arial"/>
                <a:cs typeface="Arial"/>
                <a:sym typeface="Arial"/>
              </a:rPr>
              <a:t>Metallicity: </a:t>
            </a:r>
            <a:endParaRPr b="0" i="0" sz="15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s-419" sz="1500" u="none" cap="none" strike="noStrike">
                <a:solidFill>
                  <a:schemeClr val="lt1"/>
                </a:solidFill>
                <a:latin typeface="Arial"/>
                <a:ea typeface="Arial"/>
                <a:cs typeface="Arial"/>
                <a:sym typeface="Arial"/>
              </a:rPr>
              <a:t>- High in the core: . </a:t>
            </a:r>
            <a:endParaRPr b="0" i="0" sz="15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s-419" sz="1500" u="none" cap="none" strike="noStrike">
                <a:solidFill>
                  <a:schemeClr val="lt1"/>
                </a:solidFill>
                <a:latin typeface="Arial"/>
                <a:ea typeface="Arial"/>
                <a:cs typeface="Arial"/>
                <a:sym typeface="Arial"/>
              </a:rPr>
              <a:t>- Low in the outer regions: </a:t>
            </a:r>
            <a:endParaRPr b="0" i="0" sz="15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s-419" sz="1500" u="none" cap="none" strike="noStrike">
                <a:solidFill>
                  <a:schemeClr val="lt1"/>
                </a:solidFill>
                <a:latin typeface="Arial"/>
                <a:ea typeface="Arial"/>
                <a:cs typeface="Arial"/>
                <a:sym typeface="Arial"/>
              </a:rPr>
              <a:t>Density: </a:t>
            </a:r>
            <a:endParaRPr b="0" i="0" sz="15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s-419" sz="1500" u="none" cap="none" strike="noStrike">
                <a:solidFill>
                  <a:schemeClr val="lt1"/>
                </a:solidFill>
                <a:latin typeface="Arial"/>
                <a:ea typeface="Arial"/>
                <a:cs typeface="Arial"/>
                <a:sym typeface="Arial"/>
              </a:rPr>
              <a:t>- Dominated by dark matter. </a:t>
            </a:r>
            <a:endParaRPr b="0" i="0" sz="15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s-419" sz="1500" u="none" cap="none" strike="noStrike">
                <a:solidFill>
                  <a:schemeClr val="lt1"/>
                </a:solidFill>
                <a:latin typeface="Arial"/>
                <a:ea typeface="Arial"/>
                <a:cs typeface="Arial"/>
                <a:sym typeface="Arial"/>
              </a:rPr>
              <a:t>- Stars are concentrated, while gas is extended as a reservoir.</a:t>
            </a:r>
            <a:endParaRPr b="0" i="0" sz="1500" u="none" cap="none" strike="noStrike">
              <a:solidFill>
                <a:schemeClr val="lt1"/>
              </a:solidFill>
              <a:latin typeface="Arial"/>
              <a:ea typeface="Arial"/>
              <a:cs typeface="Arial"/>
              <a:sym typeface="Arial"/>
            </a:endParaRPr>
          </a:p>
        </p:txBody>
      </p:sp>
      <p:pic>
        <p:nvPicPr>
          <p:cNvPr id="290" name="Google Shape;290;p22"/>
          <p:cNvPicPr preferRelativeResize="0"/>
          <p:nvPr/>
        </p:nvPicPr>
        <p:blipFill rotWithShape="1">
          <a:blip r:embed="rId8">
            <a:alphaModFix/>
          </a:blip>
          <a:srcRect b="0" l="0" r="0" t="0"/>
          <a:stretch/>
        </p:blipFill>
        <p:spPr>
          <a:xfrm>
            <a:off x="893425" y="558425"/>
            <a:ext cx="7263273" cy="23513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3"/>
          <p:cNvSpPr/>
          <p:nvPr/>
        </p:nvSpPr>
        <p:spPr>
          <a:xfrm>
            <a:off x="0" y="0"/>
            <a:ext cx="9144000" cy="5147901"/>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296" name="Google Shape;296;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eli, galaxies like SMC (diferentes rango)</a:t>
            </a:r>
            <a:endParaRPr/>
          </a:p>
        </p:txBody>
      </p:sp>
      <p:sp>
        <p:nvSpPr>
          <p:cNvPr id="297" name="Google Shape;297;p23"/>
          <p:cNvSpPr txBox="1"/>
          <p:nvPr>
            <p:ph idx="1" type="body"/>
          </p:nvPr>
        </p:nvSpPr>
        <p:spPr>
          <a:xfrm>
            <a:off x="244625" y="1017725"/>
            <a:ext cx="4415100" cy="33561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15000"/>
              </a:lnSpc>
              <a:spcBef>
                <a:spcPts val="0"/>
              </a:spcBef>
              <a:spcAft>
                <a:spcPts val="0"/>
              </a:spcAft>
              <a:buSzPct val="68370"/>
              <a:buNone/>
            </a:pPr>
            <a:r>
              <a:rPr lang="es-419" sz="3761">
                <a:solidFill>
                  <a:schemeClr val="lt1"/>
                </a:solidFill>
              </a:rPr>
              <a:t>We can compare dwarf galaxies based on whether they are isolated or satellites of other galaxies, to do this we analyzed their stellar mass and the mass of their Halo</a:t>
            </a:r>
            <a:endParaRPr sz="3761">
              <a:solidFill>
                <a:schemeClr val="lt1"/>
              </a:solidFill>
            </a:endParaRPr>
          </a:p>
          <a:p>
            <a:pPr indent="0" lvl="0" marL="0" rtl="0" algn="l">
              <a:lnSpc>
                <a:spcPct val="115000"/>
              </a:lnSpc>
              <a:spcBef>
                <a:spcPts val="1200"/>
              </a:spcBef>
              <a:spcAft>
                <a:spcPts val="1200"/>
              </a:spcAft>
              <a:buSzPct val="75630"/>
              <a:buNone/>
            </a:pPr>
            <a:r>
              <a:t/>
            </a:r>
            <a:endParaRPr sz="3400" u="sng">
              <a:highlight>
                <a:schemeClr val="lt1"/>
              </a:highlight>
            </a:endParaRPr>
          </a:p>
        </p:txBody>
      </p:sp>
      <p:sp>
        <p:nvSpPr>
          <p:cNvPr id="298" name="Google Shape;298;p23"/>
          <p:cNvSpPr txBox="1"/>
          <p:nvPr/>
        </p:nvSpPr>
        <p:spPr>
          <a:xfrm>
            <a:off x="753900" y="107525"/>
            <a:ext cx="7636200" cy="9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900"/>
              <a:buFont typeface="Arial"/>
              <a:buNone/>
            </a:pPr>
            <a:r>
              <a:rPr b="0" i="0" lang="es-419" sz="3900" u="none" cap="none" strike="noStrike">
                <a:solidFill>
                  <a:srgbClr val="FFFFFF"/>
                </a:solidFill>
                <a:latin typeface="Arial"/>
                <a:ea typeface="Arial"/>
                <a:cs typeface="Arial"/>
                <a:sym typeface="Arial"/>
              </a:rPr>
              <a:t>Satellite and Field Dwarf Galaxies</a:t>
            </a:r>
            <a:endParaRPr b="0" i="0" sz="3900" u="none" cap="none" strike="noStrike">
              <a:solidFill>
                <a:srgbClr val="FFFFFF"/>
              </a:solidFill>
              <a:latin typeface="Arial"/>
              <a:ea typeface="Arial"/>
              <a:cs typeface="Arial"/>
              <a:sym typeface="Arial"/>
            </a:endParaRPr>
          </a:p>
        </p:txBody>
      </p:sp>
      <p:pic>
        <p:nvPicPr>
          <p:cNvPr id="299" name="Google Shape;299;p23"/>
          <p:cNvPicPr preferRelativeResize="0"/>
          <p:nvPr/>
        </p:nvPicPr>
        <p:blipFill rotWithShape="1">
          <a:blip r:embed="rId4">
            <a:alphaModFix/>
          </a:blip>
          <a:srcRect b="0" l="0" r="0" t="0"/>
          <a:stretch/>
        </p:blipFill>
        <p:spPr>
          <a:xfrm>
            <a:off x="4777244" y="960850"/>
            <a:ext cx="4055056" cy="39178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4"/>
          <p:cNvSpPr/>
          <p:nvPr/>
        </p:nvSpPr>
        <p:spPr>
          <a:xfrm>
            <a:off x="0" y="0"/>
            <a:ext cx="9144000" cy="5147901"/>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305" name="Google Shape;305;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eli, galaxies like SMC (diferentes rango)</a:t>
            </a:r>
            <a:endParaRPr/>
          </a:p>
        </p:txBody>
      </p:sp>
      <p:sp>
        <p:nvSpPr>
          <p:cNvPr id="306" name="Google Shape;306;p24"/>
          <p:cNvSpPr txBox="1"/>
          <p:nvPr>
            <p:ph idx="1" type="body"/>
          </p:nvPr>
        </p:nvSpPr>
        <p:spPr>
          <a:xfrm>
            <a:off x="311700" y="863550"/>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307" name="Google Shape;307;p24"/>
          <p:cNvPicPr preferRelativeResize="0"/>
          <p:nvPr/>
        </p:nvPicPr>
        <p:blipFill rotWithShape="1">
          <a:blip r:embed="rId4">
            <a:alphaModFix/>
          </a:blip>
          <a:srcRect b="0" l="0" r="0" t="0"/>
          <a:stretch/>
        </p:blipFill>
        <p:spPr>
          <a:xfrm>
            <a:off x="1552462" y="101700"/>
            <a:ext cx="6039076" cy="49401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1" name="Shape 311"/>
        <p:cNvGrpSpPr/>
        <p:nvPr/>
      </p:nvGrpSpPr>
      <p:grpSpPr>
        <a:xfrm>
          <a:off x="0" y="0"/>
          <a:ext cx="0" cy="0"/>
          <a:chOff x="0" y="0"/>
          <a:chExt cx="0" cy="0"/>
        </a:xfrm>
      </p:grpSpPr>
      <p:sp>
        <p:nvSpPr>
          <p:cNvPr id="312" name="Google Shape;312;p25"/>
          <p:cNvSpPr/>
          <p:nvPr/>
        </p:nvSpPr>
        <p:spPr>
          <a:xfrm>
            <a:off x="0" y="0"/>
            <a:ext cx="9144000" cy="5147901"/>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4">
              <a:alphaModFix/>
            </a:blip>
            <a:stretch>
              <a:fillRect b="0" l="0" r="0" t="0"/>
            </a:stretch>
          </a:blipFill>
          <a:ln>
            <a:noFill/>
          </a:ln>
        </p:spPr>
      </p:sp>
      <p:sp>
        <p:nvSpPr>
          <p:cNvPr id="313" name="Google Shape;313;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eli, galaxies like SMC (diferentes rango)</a:t>
            </a:r>
            <a:endParaRPr/>
          </a:p>
        </p:txBody>
      </p:sp>
      <p:sp>
        <p:nvSpPr>
          <p:cNvPr id="314" name="Google Shape;314;p25"/>
          <p:cNvSpPr txBox="1"/>
          <p:nvPr>
            <p:ph idx="1" type="body"/>
          </p:nvPr>
        </p:nvSpPr>
        <p:spPr>
          <a:xfrm>
            <a:off x="311700" y="863550"/>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315" name="Google Shape;315;p25"/>
          <p:cNvPicPr preferRelativeResize="0"/>
          <p:nvPr/>
        </p:nvPicPr>
        <p:blipFill rotWithShape="1">
          <a:blip r:embed="rId5">
            <a:alphaModFix/>
          </a:blip>
          <a:srcRect b="0" l="0" r="0" t="0"/>
          <a:stretch/>
        </p:blipFill>
        <p:spPr>
          <a:xfrm>
            <a:off x="110075" y="476900"/>
            <a:ext cx="4461925" cy="4189700"/>
          </a:xfrm>
          <a:prstGeom prst="rect">
            <a:avLst/>
          </a:prstGeom>
          <a:noFill/>
          <a:ln>
            <a:noFill/>
          </a:ln>
        </p:spPr>
      </p:pic>
      <p:pic>
        <p:nvPicPr>
          <p:cNvPr id="316" name="Google Shape;316;p25"/>
          <p:cNvPicPr preferRelativeResize="0"/>
          <p:nvPr/>
        </p:nvPicPr>
        <p:blipFill rotWithShape="1">
          <a:blip r:embed="rId6">
            <a:alphaModFix/>
          </a:blip>
          <a:srcRect b="0" l="0" r="0" t="0"/>
          <a:stretch/>
        </p:blipFill>
        <p:spPr>
          <a:xfrm>
            <a:off x="4572000" y="476905"/>
            <a:ext cx="4461925" cy="418969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6"/>
          <p:cNvSpPr/>
          <p:nvPr/>
        </p:nvSpPr>
        <p:spPr>
          <a:xfrm>
            <a:off x="0" y="0"/>
            <a:ext cx="9144000" cy="5147901"/>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322" name="Google Shape;322;p26"/>
          <p:cNvSpPr txBox="1"/>
          <p:nvPr>
            <p:ph idx="1" type="body"/>
          </p:nvPr>
        </p:nvSpPr>
        <p:spPr>
          <a:xfrm>
            <a:off x="311700" y="863550"/>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sz="2600">
              <a:solidFill>
                <a:schemeClr val="lt1"/>
              </a:solidFill>
            </a:endParaRPr>
          </a:p>
        </p:txBody>
      </p:sp>
      <p:pic>
        <p:nvPicPr>
          <p:cNvPr id="323" name="Google Shape;323;p26"/>
          <p:cNvPicPr preferRelativeResize="0"/>
          <p:nvPr/>
        </p:nvPicPr>
        <p:blipFill rotWithShape="1">
          <a:blip r:embed="rId4">
            <a:alphaModFix/>
          </a:blip>
          <a:srcRect b="0" l="0" r="0" t="0"/>
          <a:stretch/>
        </p:blipFill>
        <p:spPr>
          <a:xfrm>
            <a:off x="1380750" y="44188"/>
            <a:ext cx="6382500" cy="50551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7"/>
          <p:cNvSpPr/>
          <p:nvPr/>
        </p:nvSpPr>
        <p:spPr>
          <a:xfrm>
            <a:off x="0" y="-61325"/>
            <a:ext cx="9144000" cy="5208822"/>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pic>
        <p:nvPicPr>
          <p:cNvPr id="329" name="Google Shape;329;p27"/>
          <p:cNvPicPr preferRelativeResize="0"/>
          <p:nvPr/>
        </p:nvPicPr>
        <p:blipFill rotWithShape="1">
          <a:blip r:embed="rId4">
            <a:alphaModFix/>
          </a:blip>
          <a:srcRect b="0" l="0" r="0" t="0"/>
          <a:stretch/>
        </p:blipFill>
        <p:spPr>
          <a:xfrm>
            <a:off x="354150" y="205150"/>
            <a:ext cx="2709924" cy="4855608"/>
          </a:xfrm>
          <a:prstGeom prst="rect">
            <a:avLst/>
          </a:prstGeom>
          <a:noFill/>
          <a:ln>
            <a:noFill/>
          </a:ln>
        </p:spPr>
      </p:pic>
      <p:pic>
        <p:nvPicPr>
          <p:cNvPr id="330" name="Google Shape;330;p27"/>
          <p:cNvPicPr preferRelativeResize="0"/>
          <p:nvPr/>
        </p:nvPicPr>
        <p:blipFill rotWithShape="1">
          <a:blip r:embed="rId5">
            <a:alphaModFix/>
          </a:blip>
          <a:srcRect b="0" l="0" r="0" t="0"/>
          <a:stretch/>
        </p:blipFill>
        <p:spPr>
          <a:xfrm>
            <a:off x="3106162" y="205150"/>
            <a:ext cx="2709924" cy="4855588"/>
          </a:xfrm>
          <a:prstGeom prst="rect">
            <a:avLst/>
          </a:prstGeom>
          <a:noFill/>
          <a:ln>
            <a:noFill/>
          </a:ln>
        </p:spPr>
      </p:pic>
      <p:pic>
        <p:nvPicPr>
          <p:cNvPr id="331" name="Google Shape;331;p27"/>
          <p:cNvPicPr preferRelativeResize="0"/>
          <p:nvPr/>
        </p:nvPicPr>
        <p:blipFill rotWithShape="1">
          <a:blip r:embed="rId6">
            <a:alphaModFix/>
          </a:blip>
          <a:srcRect b="0" l="0" r="0" t="0"/>
          <a:stretch/>
        </p:blipFill>
        <p:spPr>
          <a:xfrm>
            <a:off x="6109300" y="205150"/>
            <a:ext cx="2709924" cy="485559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8"/>
          <p:cNvSpPr/>
          <p:nvPr/>
        </p:nvSpPr>
        <p:spPr>
          <a:xfrm>
            <a:off x="0" y="-2200"/>
            <a:ext cx="9144000" cy="5147901"/>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337" name="Google Shape;337;p28"/>
          <p:cNvSpPr txBox="1"/>
          <p:nvPr>
            <p:ph idx="1" type="body"/>
          </p:nvPr>
        </p:nvSpPr>
        <p:spPr>
          <a:xfrm>
            <a:off x="381450" y="1212250"/>
            <a:ext cx="8520600" cy="4166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419">
                <a:solidFill>
                  <a:schemeClr val="lt1"/>
                </a:solidFill>
              </a:rPr>
              <a:t>-The proximity of dwarf galaxies to other galaxies changes the shape of the alpha-knee, because it affects star formation</a:t>
            </a:r>
            <a:endParaRPr>
              <a:solidFill>
                <a:schemeClr val="lt1"/>
              </a:solidFill>
            </a:endParaRPr>
          </a:p>
          <a:p>
            <a:pPr indent="0" lvl="0" marL="0" rtl="0" algn="l">
              <a:lnSpc>
                <a:spcPct val="115000"/>
              </a:lnSpc>
              <a:spcBef>
                <a:spcPts val="1200"/>
              </a:spcBef>
              <a:spcAft>
                <a:spcPts val="1200"/>
              </a:spcAft>
              <a:buSzPts val="1800"/>
              <a:buNone/>
            </a:pPr>
            <a:r>
              <a:rPr lang="es-419">
                <a:solidFill>
                  <a:schemeClr val="lt1"/>
                </a:solidFill>
              </a:rPr>
              <a:t>-The lack of Alpha Abundance in the MCs might be because they’re new to the MW vicinity.</a:t>
            </a:r>
            <a:endParaRPr>
              <a:solidFill>
                <a:schemeClr val="lt1"/>
              </a:solidFill>
            </a:endParaRPr>
          </a:p>
        </p:txBody>
      </p:sp>
      <p:sp>
        <p:nvSpPr>
          <p:cNvPr id="338" name="Google Shape;338;p28"/>
          <p:cNvSpPr txBox="1"/>
          <p:nvPr/>
        </p:nvSpPr>
        <p:spPr>
          <a:xfrm>
            <a:off x="381450" y="273150"/>
            <a:ext cx="4951800" cy="81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i="0" lang="es-419" sz="3000" u="none" cap="none" strike="noStrike">
                <a:solidFill>
                  <a:schemeClr val="lt1"/>
                </a:solidFill>
                <a:latin typeface="Arial"/>
                <a:ea typeface="Arial"/>
                <a:cs typeface="Arial"/>
                <a:sym typeface="Arial"/>
              </a:rPr>
              <a:t>Final thoughts</a:t>
            </a:r>
            <a:endParaRPr b="1" i="0" sz="3000" u="none" cap="none" strike="noStrike">
              <a:solidFill>
                <a:schemeClr val="lt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9"/>
          <p:cNvSpPr/>
          <p:nvPr/>
        </p:nvSpPr>
        <p:spPr>
          <a:xfrm>
            <a:off x="0" y="-2200"/>
            <a:ext cx="9144000" cy="5147901"/>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344" name="Google Shape;344;p29"/>
          <p:cNvSpPr txBox="1"/>
          <p:nvPr>
            <p:ph type="title"/>
          </p:nvPr>
        </p:nvSpPr>
        <p:spPr>
          <a:xfrm>
            <a:off x="460800" y="3927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b="1" lang="es-419" sz="3020">
                <a:solidFill>
                  <a:schemeClr val="lt1"/>
                </a:solidFill>
              </a:rPr>
              <a:t>Next steps</a:t>
            </a:r>
            <a:endParaRPr b="1" sz="3020">
              <a:solidFill>
                <a:schemeClr val="lt1"/>
              </a:solidFill>
            </a:endParaRPr>
          </a:p>
        </p:txBody>
      </p:sp>
      <p:sp>
        <p:nvSpPr>
          <p:cNvPr id="345" name="Google Shape;345;p29"/>
          <p:cNvSpPr txBox="1"/>
          <p:nvPr>
            <p:ph idx="1" type="body"/>
          </p:nvPr>
        </p:nvSpPr>
        <p:spPr>
          <a:xfrm>
            <a:off x="460800" y="1157200"/>
            <a:ext cx="4111200" cy="3743400"/>
          </a:xfrm>
          <a:prstGeom prst="rect">
            <a:avLst/>
          </a:prstGeom>
          <a:noFill/>
          <a:ln>
            <a:noFill/>
          </a:ln>
        </p:spPr>
        <p:txBody>
          <a:bodyPr anchorCtr="0" anchor="t" bIns="91425" lIns="91425" spcFirstLastPara="1" rIns="91425" wrap="square" tIns="91425">
            <a:normAutofit/>
          </a:bodyPr>
          <a:lstStyle/>
          <a:p>
            <a:pPr indent="0" lvl="0" marL="0" marR="38100" rtl="0" algn="l">
              <a:lnSpc>
                <a:spcPct val="128571"/>
              </a:lnSpc>
              <a:spcBef>
                <a:spcPts val="0"/>
              </a:spcBef>
              <a:spcAft>
                <a:spcPts val="0"/>
              </a:spcAft>
              <a:buClr>
                <a:schemeClr val="dk1"/>
              </a:buClr>
              <a:buSzPts val="1100"/>
              <a:buFont typeface="Arial"/>
              <a:buNone/>
            </a:pPr>
            <a:r>
              <a:rPr lang="es-419" sz="1491">
                <a:solidFill>
                  <a:srgbClr val="E8EAED"/>
                </a:solidFill>
              </a:rPr>
              <a:t>Understand how, and if so, why the environment affects the evolution of dwarf galaxies, consider mechanisms such as ram pressure stripping and others that change morphology and chemistry in different regimes, and improve our filter selection and compare with other works.</a:t>
            </a:r>
            <a:endParaRPr sz="1491">
              <a:solidFill>
                <a:srgbClr val="E8EAED"/>
              </a:solidFill>
            </a:endParaRPr>
          </a:p>
          <a:p>
            <a:pPr indent="0" lvl="0" marL="0" rtl="0" algn="l">
              <a:lnSpc>
                <a:spcPct val="115000"/>
              </a:lnSpc>
              <a:spcBef>
                <a:spcPts val="0"/>
              </a:spcBef>
              <a:spcAft>
                <a:spcPts val="1200"/>
              </a:spcAft>
              <a:buSzPts val="1800"/>
              <a:buNone/>
            </a:pPr>
            <a:r>
              <a:t/>
            </a:r>
            <a:endParaRPr sz="3400">
              <a:solidFill>
                <a:schemeClr val="lt1"/>
              </a:solidFill>
            </a:endParaRPr>
          </a:p>
        </p:txBody>
      </p:sp>
      <p:pic>
        <p:nvPicPr>
          <p:cNvPr id="346" name="Google Shape;346;p29"/>
          <p:cNvPicPr preferRelativeResize="0"/>
          <p:nvPr/>
        </p:nvPicPr>
        <p:blipFill rotWithShape="1">
          <a:blip r:embed="rId4">
            <a:alphaModFix/>
          </a:blip>
          <a:srcRect b="0" l="0" r="0" t="0"/>
          <a:stretch/>
        </p:blipFill>
        <p:spPr>
          <a:xfrm>
            <a:off x="4572000" y="758675"/>
            <a:ext cx="4111200" cy="3192975"/>
          </a:xfrm>
          <a:prstGeom prst="rect">
            <a:avLst/>
          </a:prstGeom>
          <a:noFill/>
          <a:ln>
            <a:noFill/>
          </a:ln>
        </p:spPr>
      </p:pic>
      <p:sp>
        <p:nvSpPr>
          <p:cNvPr id="347" name="Google Shape;347;p29"/>
          <p:cNvSpPr txBox="1"/>
          <p:nvPr/>
        </p:nvSpPr>
        <p:spPr>
          <a:xfrm>
            <a:off x="4572000" y="3951650"/>
            <a:ext cx="4490100" cy="70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419" sz="1800" u="none" cap="none" strike="noStrike">
                <a:solidFill>
                  <a:schemeClr val="lt1"/>
                </a:solidFill>
                <a:latin typeface="Arial"/>
                <a:ea typeface="Arial"/>
                <a:cs typeface="Arial"/>
                <a:sym typeface="Arial"/>
              </a:rPr>
              <a:t>Source: </a:t>
            </a:r>
            <a:r>
              <a:rPr b="0" i="0" lang="es-419" sz="1300" u="none" cap="none" strike="noStrike">
                <a:solidFill>
                  <a:schemeClr val="lt1"/>
                </a:solidFill>
                <a:latin typeface="Arial"/>
                <a:ea typeface="Arial"/>
                <a:cs typeface="Arial"/>
                <a:sym typeface="Arial"/>
              </a:rPr>
              <a:t>V. Belokurov, D. Erkal, A. Mellinger</a:t>
            </a:r>
            <a:endParaRPr b="0" i="0" sz="2200" u="none" cap="none" strike="noStrike">
              <a:solidFill>
                <a:schemeClr val="lt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0"/>
          <p:cNvSpPr/>
          <p:nvPr/>
        </p:nvSpPr>
        <p:spPr>
          <a:xfrm>
            <a:off x="0" y="-2200"/>
            <a:ext cx="9144000" cy="5147901"/>
          </a:xfrm>
          <a:custGeom>
            <a:rect b="b" l="l" r="r" t="t"/>
            <a:pathLst>
              <a:path extrusionOk="0" h="12184380" w="18288000">
                <a:moveTo>
                  <a:pt x="0" y="0"/>
                </a:moveTo>
                <a:lnTo>
                  <a:pt x="18288000" y="0"/>
                </a:lnTo>
                <a:lnTo>
                  <a:pt x="18288000" y="12184380"/>
                </a:lnTo>
                <a:lnTo>
                  <a:pt x="0" y="12184380"/>
                </a:lnTo>
                <a:lnTo>
                  <a:pt x="0" y="0"/>
                </a:lnTo>
                <a:close/>
              </a:path>
            </a:pathLst>
          </a:custGeom>
          <a:blipFill rotWithShape="1">
            <a:blip r:embed="rId3">
              <a:alphaModFix/>
            </a:blip>
            <a:stretch>
              <a:fillRect b="0" l="0" r="0" t="0"/>
            </a:stretch>
          </a:blipFill>
          <a:ln>
            <a:noFill/>
          </a:ln>
        </p:spPr>
      </p:sp>
      <p:sp>
        <p:nvSpPr>
          <p:cNvPr id="353" name="Google Shape;353;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s-419">
                <a:solidFill>
                  <a:schemeClr val="lt1"/>
                </a:solidFill>
              </a:rPr>
              <a:t>References</a:t>
            </a:r>
            <a:endParaRPr b="1">
              <a:solidFill>
                <a:schemeClr val="lt1"/>
              </a:solidFill>
            </a:endParaRPr>
          </a:p>
        </p:txBody>
      </p:sp>
      <p:sp>
        <p:nvSpPr>
          <p:cNvPr id="354" name="Google Shape;354;p3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Clr>
                <a:schemeClr val="dk1"/>
              </a:buClr>
              <a:buSzPts val="1100"/>
              <a:buFont typeface="Arial"/>
              <a:buNone/>
            </a:pPr>
            <a:r>
              <a:rPr lang="es-419" sz="1400">
                <a:solidFill>
                  <a:schemeClr val="lt1"/>
                </a:solidFill>
              </a:rPr>
              <a:t>Asplund, M., Amarsi, A. M., &amp; Grevesse, N. (2021). </a:t>
            </a:r>
            <a:r>
              <a:rPr i="1" lang="es-419" sz="1400">
                <a:solidFill>
                  <a:schemeClr val="lt1"/>
                </a:solidFill>
              </a:rPr>
              <a:t>The chemical make-up of the Sun: A 2020 vision.</a:t>
            </a:r>
            <a:r>
              <a:rPr lang="es-419" sz="1400">
                <a:solidFill>
                  <a:schemeClr val="lt1"/>
                </a:solidFill>
              </a:rPr>
              <a:t> Astronomy &amp; Astrophysics, 653, A141.</a:t>
            </a:r>
            <a:endParaRPr sz="1400">
              <a:solidFill>
                <a:schemeClr val="lt1"/>
              </a:solidFill>
            </a:endParaRPr>
          </a:p>
          <a:p>
            <a:pPr indent="0" lvl="0" marL="0" rtl="0" algn="l">
              <a:lnSpc>
                <a:spcPct val="115000"/>
              </a:lnSpc>
              <a:spcBef>
                <a:spcPts val="1200"/>
              </a:spcBef>
              <a:spcAft>
                <a:spcPts val="0"/>
              </a:spcAft>
              <a:buSzPts val="1800"/>
              <a:buNone/>
            </a:pPr>
            <a:r>
              <a:rPr lang="es-419" sz="1400">
                <a:solidFill>
                  <a:schemeClr val="lt1"/>
                </a:solidFill>
              </a:rPr>
              <a:t>Bhattacharyya, J., Peter, A. H., &amp; Leauthaud, A. (2025). </a:t>
            </a:r>
            <a:r>
              <a:rPr i="1" lang="es-419" sz="1400">
                <a:solidFill>
                  <a:schemeClr val="lt1"/>
                </a:solidFill>
              </a:rPr>
              <a:t>Dwarf Galaxies in the TNG50 Field: connecting their Star-formation Rates with their Environments.</a:t>
            </a:r>
            <a:r>
              <a:rPr lang="es-419" sz="1400">
                <a:solidFill>
                  <a:schemeClr val="lt1"/>
                </a:solidFill>
              </a:rPr>
              <a:t> arXiv preprint arXiv:2501.01946.</a:t>
            </a:r>
            <a:endParaRPr sz="1400">
              <a:solidFill>
                <a:schemeClr val="lt1"/>
              </a:solidFill>
            </a:endParaRPr>
          </a:p>
          <a:p>
            <a:pPr indent="0" lvl="0" marL="0" rtl="0" algn="l">
              <a:lnSpc>
                <a:spcPct val="100000"/>
              </a:lnSpc>
              <a:spcBef>
                <a:spcPts val="1200"/>
              </a:spcBef>
              <a:spcAft>
                <a:spcPts val="0"/>
              </a:spcAft>
              <a:buSzPts val="1800"/>
              <a:buNone/>
            </a:pPr>
            <a:r>
              <a:rPr i="1" lang="es-419" sz="1400">
                <a:solidFill>
                  <a:schemeClr val="lt1"/>
                </a:solidFill>
              </a:rPr>
              <a:t>IllustrisTNG Project, </a:t>
            </a:r>
            <a:r>
              <a:rPr i="1" lang="es-419" sz="1400" u="sng">
                <a:solidFill>
                  <a:schemeClr val="lt1"/>
                </a:solidFill>
                <a:hlinkClick r:id="rId4">
                  <a:extLst>
                    <a:ext uri="{A12FA001-AC4F-418D-AE19-62706E023703}">
                      <ahyp:hlinkClr val="tx"/>
                    </a:ext>
                  </a:extLst>
                </a:hlinkClick>
              </a:rPr>
              <a:t>https://www.tng-project.org/about/</a:t>
            </a:r>
            <a:endParaRPr i="1" sz="1400">
              <a:solidFill>
                <a:schemeClr val="lt1"/>
              </a:solidFill>
            </a:endParaRPr>
          </a:p>
          <a:p>
            <a:pPr indent="0" lvl="0" marL="0" rtl="0" algn="l">
              <a:lnSpc>
                <a:spcPct val="100000"/>
              </a:lnSpc>
              <a:spcBef>
                <a:spcPts val="0"/>
              </a:spcBef>
              <a:spcAft>
                <a:spcPts val="0"/>
              </a:spcAft>
              <a:buSzPts val="1800"/>
              <a:buNone/>
            </a:pPr>
            <a:r>
              <a:t/>
            </a:r>
            <a:endParaRPr i="1" sz="14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es-419" sz="1400">
                <a:solidFill>
                  <a:schemeClr val="lt1"/>
                </a:solidFill>
              </a:rPr>
              <a:t>Nidever, D. L., Hasselquist, S., Hayes, C. R., Hawkins, K., Povick, J., Majewski, S. R., ... &amp; Rosado, M. (2020). </a:t>
            </a:r>
            <a:r>
              <a:rPr i="1" lang="es-419" sz="1400">
                <a:solidFill>
                  <a:schemeClr val="lt1"/>
                </a:solidFill>
              </a:rPr>
              <a:t>The lazy giants: APOGEE abundances reveal low star formation efficiencies in the Magellanic Clouds.</a:t>
            </a:r>
            <a:r>
              <a:rPr lang="es-419" sz="1400">
                <a:solidFill>
                  <a:schemeClr val="lt1"/>
                </a:solidFill>
              </a:rPr>
              <a:t> The Astrophysical Journal, 895(2), 88.</a:t>
            </a:r>
            <a:endParaRPr sz="1400">
              <a:solidFill>
                <a:schemeClr val="lt1"/>
              </a:solidFill>
            </a:endParaRPr>
          </a:p>
          <a:p>
            <a:pPr indent="0" lvl="0" marL="0" rtl="0" algn="l">
              <a:lnSpc>
                <a:spcPct val="115000"/>
              </a:lnSpc>
              <a:spcBef>
                <a:spcPts val="1200"/>
              </a:spcBef>
              <a:spcAft>
                <a:spcPts val="1200"/>
              </a:spcAft>
              <a:buSzPts val="1800"/>
              <a:buNone/>
            </a:pPr>
            <a:r>
              <a:rPr lang="es-419" sz="1400">
                <a:solidFill>
                  <a:schemeClr val="lt1"/>
                </a:solidFill>
              </a:rPr>
              <a:t>Shipp, N., Erkal, D., Drlica-Wagner, A., Li, T. S., Pace, A. B., Koposov, S. E., ... &amp; S 5 Collaboration. (2021). </a:t>
            </a:r>
            <a:r>
              <a:rPr i="1" lang="es-419" sz="1400">
                <a:solidFill>
                  <a:schemeClr val="lt1"/>
                </a:solidFill>
              </a:rPr>
              <a:t>Measuring the mass of the Large Magellanic Cloud with stellar streams observed by S 5</a:t>
            </a:r>
            <a:r>
              <a:rPr lang="es-419" sz="1400">
                <a:solidFill>
                  <a:schemeClr val="lt1"/>
                </a:solidFill>
              </a:rPr>
              <a:t>. The Astrophysical Journal, 923(2), 149.</a:t>
            </a:r>
            <a:endParaRPr i="1" sz="14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